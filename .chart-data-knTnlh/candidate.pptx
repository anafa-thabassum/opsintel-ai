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3395daefd4c03" /><Relationship Type="http://schemas.openxmlformats.org/officeDocument/2006/relationships/extended-properties" Target="/docProps/app.xml" Id="R2b9a46638b704fd6" /><Relationship Type="http://schemas.openxmlformats.org/officeDocument/2006/relationships/officeDocument" Target="/ppt/presentation.xml" Id="Rf00348fc72f247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822f15d63445e6"/>
  </p:sldMasterIdLst>
  <p:notesMasterIdLst>
    <p:notesMasterId xmlns:r="http://schemas.openxmlformats.org/officeDocument/2006/relationships" r:id="R25b538af7eff4950"/>
  </p:notesMasterIdLst>
  <p:sldIdLst>
    <p:sldId xmlns:r="http://schemas.openxmlformats.org/officeDocument/2006/relationships" id="256" r:id="R6d197fd1805940b0"/>
    <p:sldId xmlns:r="http://schemas.openxmlformats.org/officeDocument/2006/relationships" id="257" r:id="R5b8c2956f0314a1c"/>
    <p:sldId xmlns:r="http://schemas.openxmlformats.org/officeDocument/2006/relationships" id="258" r:id="Rbb4369acf1974e6e"/>
    <p:sldId xmlns:r="http://schemas.openxmlformats.org/officeDocument/2006/relationships" id="259" r:id="Re44831ad166644af"/>
    <p:sldId xmlns:r="http://schemas.openxmlformats.org/officeDocument/2006/relationships" id="260" r:id="R1c54709ad5a14f7a"/>
    <p:sldId xmlns:r="http://schemas.openxmlformats.org/officeDocument/2006/relationships" id="261" r:id="R24589ea09d4943a6"/>
    <p:sldId xmlns:r="http://schemas.openxmlformats.org/officeDocument/2006/relationships" id="262" r:id="Re5a00a21743e473b"/>
    <p:sldId xmlns:r="http://schemas.openxmlformats.org/officeDocument/2006/relationships" id="263" r:id="R4ec45a6f31e14c62"/>
    <p:sldId xmlns:r="http://schemas.openxmlformats.org/officeDocument/2006/relationships" id="264" r:id="R46819529d8c6478b"/>
    <p:sldId xmlns:r="http://schemas.openxmlformats.org/officeDocument/2006/relationships" id="265" r:id="Rc81a1ca1dee046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66df036e7b47b1" /><Relationship Type="http://schemas.openxmlformats.org/officeDocument/2006/relationships/slideMaster" Target="/ppt/slideMasters/slideMaster1.xml" Id="R3f822f15d63445e6" /><Relationship Type="http://schemas.openxmlformats.org/officeDocument/2006/relationships/notesMaster" Target="/ppt/notesMasters/notesMaster1.xml" Id="R25b538af7eff4950" /><Relationship Type="http://schemas.openxmlformats.org/officeDocument/2006/relationships/presProps" Target="/ppt/presProps.xml" Id="Re0a021d078cb4836" /><Relationship Type="http://schemas.openxmlformats.org/officeDocument/2006/relationships/tableStyles" Target="/ppt/tableStyles.xml" Id="Rdd898835d7ea4d60" /><Relationship Type="http://schemas.openxmlformats.org/officeDocument/2006/relationships/slide" Target="/ppt/slides/slide1.xml" Id="R6d197fd1805940b0" /><Relationship Type="http://schemas.openxmlformats.org/officeDocument/2006/relationships/slide" Target="/ppt/slides/slide2.xml" Id="R5b8c2956f0314a1c" /><Relationship Type="http://schemas.openxmlformats.org/officeDocument/2006/relationships/slide" Target="/ppt/slides/slide3.xml" Id="Rbb4369acf1974e6e" /><Relationship Type="http://schemas.openxmlformats.org/officeDocument/2006/relationships/slide" Target="/ppt/slides/slide4.xml" Id="Re44831ad166644af" /><Relationship Type="http://schemas.openxmlformats.org/officeDocument/2006/relationships/slide" Target="/ppt/slides/slide5.xml" Id="R1c54709ad5a14f7a" /><Relationship Type="http://schemas.openxmlformats.org/officeDocument/2006/relationships/slide" Target="/ppt/slides/slide6.xml" Id="R24589ea09d4943a6" /><Relationship Type="http://schemas.openxmlformats.org/officeDocument/2006/relationships/slide" Target="/ppt/slides/slide7.xml" Id="Re5a00a21743e473b" /><Relationship Type="http://schemas.openxmlformats.org/officeDocument/2006/relationships/slide" Target="/ppt/slides/slide8.xml" Id="R4ec45a6f31e14c62" /><Relationship Type="http://schemas.openxmlformats.org/officeDocument/2006/relationships/slide" Target="/ppt/slides/slide9.xml" Id="R46819529d8c6478b" /><Relationship Type="http://schemas.openxmlformats.org/officeDocument/2006/relationships/slide" Target="/ppt/slides/slide10.xml" Id="Rc81a1ca1dee046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17bbb946c447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e626d140ea4a8c" /><Relationship Type="http://schemas.openxmlformats.org/officeDocument/2006/relationships/notesMaster" Target="/ppt/notesMasters/notesMaster1.xml" Id="R4ce3989da14a43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f5ad97d71c44a5" /><Relationship Type="http://schemas.openxmlformats.org/officeDocument/2006/relationships/notesMaster" Target="/ppt/notesMasters/notesMaster1.xml" Id="R025b91e38cde47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58b708ac54804" /><Relationship Type="http://schemas.openxmlformats.org/officeDocument/2006/relationships/notesMaster" Target="/ppt/notesMasters/notesMaster1.xml" Id="R0f5aa754266e47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3956a08f40423d" /><Relationship Type="http://schemas.openxmlformats.org/officeDocument/2006/relationships/notesMaster" Target="/ppt/notesMasters/notesMaster1.xml" Id="R51372775269046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5810368a684ae7" /><Relationship Type="http://schemas.openxmlformats.org/officeDocument/2006/relationships/notesMaster" Target="/ppt/notesMasters/notesMaster1.xml" Id="R01eb8537110f4c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d0b1ba82804c78" /><Relationship Type="http://schemas.openxmlformats.org/officeDocument/2006/relationships/notesMaster" Target="/ppt/notesMasters/notesMaster1.xml" Id="R7c1741ddb86641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8f28cc346d4677" /><Relationship Type="http://schemas.openxmlformats.org/officeDocument/2006/relationships/notesMaster" Target="/ppt/notesMasters/notesMaster1.xml" Id="Ra16f332e5d3141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b114536613429d" /><Relationship Type="http://schemas.openxmlformats.org/officeDocument/2006/relationships/notesMaster" Target="/ppt/notesMasters/notesMaster1.xml" Id="R3b6f71d2331543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c526cbff1c475e" /><Relationship Type="http://schemas.openxmlformats.org/officeDocument/2006/relationships/notesMaster" Target="/ppt/notesMasters/notesMaster1.xml" Id="Rfc222745f6fa47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74a4f9398549d9" /><Relationship Type="http://schemas.openxmlformats.org/officeDocument/2006/relationships/notesMaster" Target="/ppt/notesMasters/notesMaster1.xml" Id="R870963da560a4a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ExaThon India 2026 Track 04 submission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problem statement; app/db.py incident retrieval; reports/impact-study-protocol.md. The comparison states an expected benefit only. No measured time saving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architecture; app/db.py; app/main.py; app/investigator.py; app/llm.py; frontend/src/App.jsx. Deterministic rules produce classifications and candidates. The optional OpenAI Responses API integration receives only bounded evidence and candidates, returns a structured narrative and evidence gaps, and is disabled by default. It cannot confirm a root cause or execute a repair.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docs/images/dashboard-overview.png; frontend/src/App.jsx totalMissing calculation; sql/seed.sql. Missing rows total 20 + 0 + 200 + 1000 = 1,220 across four demo incidents.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sql/seed.sql; app/investigator.py; docs/images/investigation-evidence.png. Run 1 has expected 100, actual 80, three logs, five observations, two candidates, low confidence, and confirmed_root_cause None.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sql/analysis/pipeline_health_features.sql; app/db.py get_pipeline_trend; app/main.py analytics_trend; frontend/src/App.jsx. A live local Exasol query returned 2026-10-15, 5 runs, 4 incidents, 56.0% average completeness, and 16.0% average rolling failure rate. The frontend fetches /analytics/trend, whose handler calls get_pipeline_trend against OPSINTEL.PIPELINE_HEALTH_FEATURES.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reports/exasol-benchmark.json; reports/evaluation.md; scripts/benchmark_exasol.py; tests/run_evaluation.py; tests/test_llm.py. Benchmark: 1,000,000 imported synthetic run rows, 20 pipelines, 7 query repetitions, 473.209 ms median, 503.947 ms nearest-rank p95, 3.025 s import. Verification: 49 tests and 16/16 predefined synthetic cases. Local single-user result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app/investigator.py assess_root_causes and investigate_pipeline; app/llm.py; tests/run_evaluation.py; tests/test_llm.py. The unknown worker-exit case remains unclassified. The optional summary cannot change confirmed_root_cause, and model or network failure leaves the deterministic investigation available. No repair is executed.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evaluation/README.md; evaluation/holdout_template.csv; reports/impact-study-protocol.md; reports/evaluation.md; docs/deployment.md. Holdout, human impact, clean-clone, and independent LLM summary-quality results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https://github.com/Anafa-thabassum/opsintel-ai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9f020004b4c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26ba171c54b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37fd7b04a44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0aa1f79984c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4cb999d664f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d552096384a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6CF710-73BE-46C8-A783-4AE8465CC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511E79-67BE-4B39-921F-CA584CB02C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51C868-2389-4E81-A171-814ACC983C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F8F76E-566D-485C-8744-F88233704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A30BB6-1341-4A8A-BB61-5B907DE86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B0EBF7-2527-43B2-BDB7-2F23A3172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1B0A86-8630-4267-94D6-32D8CD3823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7B2797-7FF4-4A5C-BF1A-0CCD8F0B20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160F11-E4B9-4499-9D8B-1CE036C3D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A710B8-D5E1-4935-B83A-EABD98D91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b394cf59944fa8" /><Relationship Type="http://schemas.openxmlformats.org/officeDocument/2006/relationships/slideLayout" Target="/ppt/slideLayouts/slideLayout1.xml" Id="Rcc750a900a104ee7" /><Relationship Type="http://schemas.openxmlformats.org/officeDocument/2006/relationships/slideLayout" Target="/ppt/slideLayouts/slideLayout2.xml" Id="Rb9414971e70b445d" /><Relationship Type="http://schemas.openxmlformats.org/officeDocument/2006/relationships/slideLayout" Target="/ppt/slideLayouts/slideLayout3.xml" Id="R039c3bd2b04141a3" /><Relationship Type="http://schemas.openxmlformats.org/officeDocument/2006/relationships/slideLayout" Target="/ppt/slideLayouts/slideLayout4.xml" Id="R872b8b4e33c34c08" /><Relationship Type="http://schemas.openxmlformats.org/officeDocument/2006/relationships/slideLayout" Target="/ppt/slideLayouts/slideLayout5.xml" Id="R02e2d922353846bc" /><Relationship Type="http://schemas.openxmlformats.org/officeDocument/2006/relationships/slideLayout" Target="/ppt/slideLayouts/slideLayout6.xml" Id="R196e782d2a1445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750a900a104ee7"/>
    <p:sldLayoutId xmlns:r="http://schemas.openxmlformats.org/officeDocument/2006/relationships" id="2147483650" r:id="Rb9414971e70b445d"/>
    <p:sldLayoutId xmlns:r="http://schemas.openxmlformats.org/officeDocument/2006/relationships" id="2147483651" r:id="R039c3bd2b04141a3"/>
    <p:sldLayoutId xmlns:r="http://schemas.openxmlformats.org/officeDocument/2006/relationships" id="2147483652" r:id="R872b8b4e33c34c08"/>
    <p:sldLayoutId xmlns:r="http://schemas.openxmlformats.org/officeDocument/2006/relationships" id="2147483653" r:id="R02e2d922353846bc"/>
    <p:sldLayoutId xmlns:r="http://schemas.openxmlformats.org/officeDocument/2006/relationships" id="2147483654" r:id="R196e782d2a1445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81ee262fe4681" /><Relationship Type="http://schemas.openxmlformats.org/officeDocument/2006/relationships/notesSlide" Target="/ppt/notesSlides/notesSlide1.xml" Id="R174ddbcd49984f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f3e0358634720" /><Relationship Type="http://schemas.openxmlformats.org/officeDocument/2006/relationships/notesSlide" Target="/ppt/notesSlides/notesSlide2.xml" Id="R009f08e286134c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e75e79365460d" /><Relationship Type="http://schemas.openxmlformats.org/officeDocument/2006/relationships/notesSlide" Target="/ppt/notesSlides/notesSlide3.xml" Id="Rd1fb41b909a943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872eba5c041c7" /><Relationship Type="http://schemas.openxmlformats.org/officeDocument/2006/relationships/image" Target="/ppt/media/image.jpeg" Id="R46fa9b57b4654e6f" /><Relationship Type="http://schemas.openxmlformats.org/officeDocument/2006/relationships/notesSlide" Target="/ppt/notesSlides/notesSlide4.xml" Id="R12290e633c254b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e4d474ded45d9" /><Relationship Type="http://schemas.openxmlformats.org/officeDocument/2006/relationships/image" Target="/ppt/media/image2.jpeg" Id="R3448e2a85f084c30" /><Relationship Type="http://schemas.openxmlformats.org/officeDocument/2006/relationships/notesSlide" Target="/ppt/notesSlides/notesSlide5.xml" Id="Rc7b8792e31a347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7ce860d6d34e09" /><Relationship Type="http://schemas.openxmlformats.org/officeDocument/2006/relationships/notesSlide" Target="/ppt/notesSlides/notesSlide6.xml" Id="R4c471369e9084b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bc7ab5aed48ca" /><Relationship Type="http://schemas.openxmlformats.org/officeDocument/2006/relationships/chart" Target="/ppt/slides/charts/chart1.xml" Id="R01a8bf80826e4f3a" /><Relationship Type="http://schemas.openxmlformats.org/officeDocument/2006/relationships/notesSlide" Target="/ppt/notesSlides/notesSlide7.xml" Id="R51b9941bc3124c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bd9077d3b49e8" /><Relationship Type="http://schemas.openxmlformats.org/officeDocument/2006/relationships/image" Target="/ppt/media/image3.jpeg" Id="R6fdd294e549b4eb4" /><Relationship Type="http://schemas.openxmlformats.org/officeDocument/2006/relationships/notesSlide" Target="/ppt/notesSlides/notesSlide8.xml" Id="R5b28254753f142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6869216cbd4d86" /><Relationship Type="http://schemas.openxmlformats.org/officeDocument/2006/relationships/notesSlide" Target="/ppt/notesSlides/notesSlide9.xml" Id="R54cbab9bf5bd46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72274928384d24" /><Relationship Type="http://schemas.openxmlformats.org/officeDocument/2006/relationships/notesSlide" Target="/ppt/notesSlides/notesSlide10.xml" Id="R1be1d80a826c431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Query latency</c:v>
          </c:tx>
          <c:spPr>
            <a:solidFill xmlns:a="http://schemas.openxmlformats.org/drawingml/2006/main">
              <a:srgbClr val="8B7CE8"/>
            </a:solidFill>
            <a:ln xmlns:a="http://schemas.openxmlformats.org/drawingml/2006/main" w="9525">
              <a:solidFill>
                <a:srgbClr val="8B7CE8"/>
              </a:solidFill>
              <a:prstDash val="solid"/>
            </a:ln>
          </c:spPr>
          <c:invertIfNegative val="0"/>
          <c:cat>
            <c:strRef>
              <c:f>'Chart Data'!$A$2:$A$8</c:f>
              <c:strCache>
                <c:ptCount val="7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  <c:pt idx="4">
                  <c:v>Run 5</c:v>
                </c:pt>
                <c:pt idx="5">
                  <c:v>Run 6</c:v>
                </c:pt>
                <c:pt idx="6">
                  <c:v>Run 7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503.947</c:v>
                </c:pt>
                <c:pt idx="1">
                  <c:v>473.209</c:v>
                </c:pt>
                <c:pt idx="2">
                  <c:v>474.484</c:v>
                </c:pt>
                <c:pt idx="3">
                  <c:v>445.887</c:v>
                </c:pt>
                <c:pt idx="4">
                  <c:v>442.384</c:v>
                </c:pt>
                <c:pt idx="5">
                  <c:v>469.597</c:v>
                </c:pt>
                <c:pt idx="6">
                  <c:v>476.749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9AA7B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solidFill>
                      <a:srgbClr val="7C89A3"/>
                    </a:solidFill>
                  </a:rPr>
                  <a:t>Query repetition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7C89A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4506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7C89A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  <c:min val="4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24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solidFill>
                      <a:srgbClr val="7C89A3"/>
                    </a:solidFill>
                  </a:rPr>
                  <a:t>Milliseconds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7C89A3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44506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7C89A3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7A3E9-1123-4B20-A1C2-1913688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OPSINTEL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FFF90-634C-476A-B16B-05AA096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8F48B-8EFF-4837-AC6D-BBF53BF6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81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Evidence-based pipeline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40742-1FED-4E5E-B585-63E5F2C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From failed overnight run to traceable next action - powered by Exasol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C4821-30BA-4FE6-A808-88E54EC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B8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14981-4EED-49A7-99EB-A3D0EF67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EXATHON INDIA 2026  /  TRACK 04: THE WORK BEHIND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F1F51-4AA0-4BF4-A7D4-54FF625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2809A"/>
                </a:solidFill>
                <a:latin typeface="Arial"/>
                <a:ea typeface="Arial"/>
                <a:cs typeface="Arial"/>
              </a:rPr>
              <a:t>Public prototype  •  MIT licensed  •  Synthetic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06ADB-ABC7-45AD-96F6-950DF782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8794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4F7ED-6DBB-4066-BA46-6F5E0BF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DBFC1-BD17-4073-8092-EC152CD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The failure is visible. The explanation is scattered.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EBA27-C86C-4EC4-A143-5168602A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5D0C7-ACD8-4746-9F0B-B2449BE5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Evidence lives in separate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86D73-F221-4F04-AB3F-A766E1D4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The engineer finds the run, compares row counts, searches logs, and decides what to inspect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187B0-D155-41CA-8AC0-FD553D4B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5265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2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39F91-66BC-42F8-B2C3-5635DEC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OPSINTEL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E2A72-7377-42C8-B2D2-2C4577E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C663C-24F4-4990-A5E8-0560720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Select the failed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CE6B8-DC53-43D5-9F53-E095127D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DD6DF-F2D6-4215-B7A0-3C2B892D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Review cited status, counts, and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79137-8B3E-439F-9B14-3041FE6F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85CDD-4C08-4852-8297-A3010A2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Compare candidate explanations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0BA77-D1DF-4D1B-A08B-59140011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48D68-B8CC-41E1-BE75-907A33BE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Human verifies before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FD6CB-1F51-49B8-9E13-6D5C3DF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435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Expected benefit: fewer context switches. The impact study will measure time and evidence selection.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5393B-0FC6-4B32-97C1-565CF44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00BB5-2023-4241-8458-E456F36A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FF8D9-2F8B-46F6-B033-072F126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5926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27D2A-353E-4DDD-8DB3-6440D54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PRODUCT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1E24E-A6A9-40B6-A446-0CBD3FEC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Operational evidence flows through Exasol, FastAPI, and the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920A-451B-4BAE-8CC7-A24854C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DC992-BB64-41FA-AB72-0F4A77A0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D9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589F7-C5CA-45A4-8B26-777F9324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Pipeline runs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and logs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53D03-5DBA-4005-8020-26CD7EE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A3BAC-7157-4C36-A61D-60F550F5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F1F1B-EE0D-44CF-8985-F9C684DC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B8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75E5C-D1B3-4224-B852-4823ABE1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Exasol SQL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D6F93-5BD9-4D61-8130-FDFC598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397F4-F8DD-4415-BBC0-0FD6103E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ADBC8-DA78-4F92-82C4-15E73256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B7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040CE-EE99-4759-B2D4-15B3A415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FastAPI rules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and candidates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E3F47-5AAD-44B1-8EDC-881EDFDD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D8DE6-830C-4AC3-B418-8AAA43AB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5D47F-A646-4B21-9061-856C912E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DD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99280-1856-43EF-8142-AA27864A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Dashboard + optional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LLM narrative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6B0ED-24D3-4301-922E-8CA67DDF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0236E-BA5A-49A3-B8F8-F93AD474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6B082-3C57-4A30-93C6-C6AD8425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F3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B3E4E-925A-4DE9-9737-17C41B5C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Engineer verifies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and confirms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35379-5874-4BC9-86C3-E6B8188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4D1C3-A9DE-413D-B632-98BCC9D1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Rules produce the category and candidates. The optional LLM only summarizes retrieved evidence. Confirmation and repairs stay human-controlled.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F9C96-361A-4CFD-8E1D-EC61E08C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EBE46-E537-4E72-A8DA-37317E8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1A799-99C5-426A-B9B8-45847F4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4981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1642E-7687-49E3-9A6D-A1FADBA5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LIVE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4509D-408D-4436-8EB5-68987C49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The dashboard reads incident telemetry calculated in Exasol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3F044-2BD8-4099-8278-BD9AC24E9D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a9b57b4654e6f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905750" cy="4448175"/>
          </a:xfrm>
          <a:prstGeom xmlns:a="http://schemas.openxmlformats.org/drawingml/2006/main" prst="roundRect">
            <a:avLst>
              <a:gd name="adj" fmla="val 257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0301E-762A-4931-A695-82EF0E4C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3837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708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9C339-4759-4E2C-B485-7C861DB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failed pipeline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83B56-D5EE-46FA-904F-E635BA0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7665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1,220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57230-272B-483F-BE03-4737DE99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24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aggregate missing rows across four demo incidents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D31C1-567B-4485-A634-19362EDA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DDB0"/>
                </a:solidFill>
                <a:latin typeface="Arial"/>
                <a:ea typeface="Arial"/>
                <a:cs typeface="Arial"/>
              </a:rPr>
              <a:t>✓ Exasol connected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DDB0"/>
                </a:solidFill>
                <a:latin typeface="Arial"/>
                <a:ea typeface="Arial"/>
                <a:cs typeface="Arial"/>
              </a:rPr>
              <a:t>✓ Trend from SQL view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DDB0"/>
                </a:solidFill>
                <a:latin typeface="Arial"/>
                <a:ea typeface="Arial"/>
                <a:cs typeface="Arial"/>
              </a:rPr>
              <a:t>✓ Incidents selectable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A060C-7F29-495D-B3C9-ED0572D8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271D2-C3ED-4DE1-A2C2-93AB976F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7C714-2C9D-4CE5-AF3C-ABE8788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8967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0CB98-4064-455A-8CD5-2A1F7475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INVESTIGATION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83B06-0C4B-4052-AB33-29277B1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Every recommendation points back to source evidence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0B4AD-0F27-4702-981A-FD9813E1A8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8e2a85f084c30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952625"/>
            <a:ext cx="683895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18D24-039E-4AAC-A056-54A3407C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Selected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9E714-7177-4B63-9CCA-8ECE867D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daily_sales_import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1B593-D8CE-49D9-BBB9-465F8DEB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Expected: 100 rows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Received: 80 rows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Missing: 20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B0FC1-4E82-4B16-8326-273B7BBE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619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EVIDENCE TRAIL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PIPELINE_RUNS: status and row counts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LOG-1: expected 100 source rows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LOG-2: source returned only 80 rows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LOG-3: import ended before completion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C9C51-6017-4CBC-AAD3-556D6BEA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37594-9A9B-4C46-9FB4-B2F748C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6994C-9844-480B-9EB2-07432BD5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observation-label">
            <a:extLst xmlns:a="http://schemas.openxmlformats.org/drawingml/2006/main">
              <a:ext uri="{FF2B5EF4-FFF2-40B4-BE49-F238E27FC236}">
                <a16:creationId xmlns:a16="http://schemas.microsoft.com/office/drawing/2014/main" id="{1A1B611E-2BB3-40E0-86D3-755DE165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4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D5C85D3C-E306-442A-B46C-0A9FA9E5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48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15" name="candidate-detail">
            <a:extLst xmlns:a="http://schemas.openxmlformats.org/drawingml/2006/main">
              <a:ext uri="{FF2B5EF4-FFF2-40B4-BE49-F238E27FC236}">
                <a16:creationId xmlns:a16="http://schemas.microsoft.com/office/drawing/2014/main" id="{A50CE275-A933-4F5C-A252-AC7561A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0198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Source shortfall or early termination</a:t>
            </a:r>
          </a:p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Confidence: low</a:t>
            </a:r>
          </a:p>
        </p:txBody>
      </p:sp>
      <p:sp>
        <p:nvSpPr>
          <p:cNvPr id="16" name="confirmation-label">
            <a:extLst xmlns:a="http://schemas.openxmlformats.org/drawingml/2006/main">
              <a:ext uri="{FF2B5EF4-FFF2-40B4-BE49-F238E27FC236}">
                <a16:creationId xmlns:a16="http://schemas.microsoft.com/office/drawing/2014/main" id="{45411344-1D0B-4259-B5B1-858F262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17" name="confirmation-detail">
            <a:extLst xmlns:a="http://schemas.openxmlformats.org/drawingml/2006/main">
              <a:ext uri="{FF2B5EF4-FFF2-40B4-BE49-F238E27FC236}">
                <a16:creationId xmlns:a16="http://schemas.microsoft.com/office/drawing/2014/main" id="{4E3C3132-0269-49E9-9EBE-F0E6F37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19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None</a:t>
            </a:r>
          </a:p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Human verification required</a:t>
            </a:r>
          </a:p>
        </p:txBody>
      </p:sp>
    </p:spTree>
    <p:extLst>
      <p:ext uri="{BB962C8B-B14F-4D97-AF65-F5344CB8AC3E}">
        <p14:creationId xmlns:p14="http://schemas.microsoft.com/office/powerpoint/2010/main" val="1233535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06E98-B789-414B-A7E9-383F1B9A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WHY EXASOL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51DA0-AF78-49B0-BCCA-83EBDD78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Exasol computes incident context before FastAPI responds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41578-D9DB-4587-A74A-2E8AB10B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ANALYTICAL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6D927-9242-4F97-ABBC-61C449DF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6D73E-B486-4F05-9C63-CBCFFC5A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Previous run status with LAG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67BEF-18DB-437D-AE2F-0F91B5FA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B3424-2DA8-4D17-8A3B-4B89BAC7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Rolling actual-row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50DC5-923B-49B1-9F8D-CB8B7B47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2A7FC-4B4B-4108-8180-89672C9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Rolling failure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71A6C-EB49-4DC1-9FAE-0A8A1375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161A4-44C7-4A64-AAC0-74E97444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291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Missing rows and completeness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BBAD6-2C80-4D28-A378-F4A18AF1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196F4-EC63-4330-A180-970E20BA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FastAPI reads the view directly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1EFA6-FCD6-4147-AC4D-E61EBB0C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95500"/>
            <a:ext cx="5734050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0D1220"/>
          </a:solidFill>
          <a:ln xmlns:a="http://schemas.openxmlformats.org/drawingml/2006/main" w="9525">
            <a:solidFill>
              <a:srgbClr val="303A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03A01-97C7-4126-A9BB-E311B533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QUERY USED BY /analytics/trend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61206-445B-4DC9-8780-90766354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4857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SELECT TO_CHAR(RUN_TIME, 'YYYY-MM-DD') AS RUN_DAY,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COUNT(*) AS TOTAL_RUNS,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SUM(CASE WHEN RUN_STATUS = 'FAILED'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  OR EXPECTED_ROWS &gt; ACTUAL_ROWS THEN 1 ELSE 0 END)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  AS INCIDENT_COUNT,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       ROUND(AVG(COMPLETENESS_PCT), 1) AS AVG_COMPLETE_PCT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FROM OPSINTEL.PIPELINE_HEALTH_FEATURES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D7DE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DEEF"/>
                </a:solidFill>
                <a:latin typeface="Arial"/>
                <a:ea typeface="Arial"/>
                <a:cs typeface="Arial"/>
              </a:rPr>
              <a:t>GROUP BY TO_CHAR(RUN_TIME, 'YYYY-MM-DD')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BFB13-FA7F-4F3B-A7FD-C328B0D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67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FastAPI returns these view rows directly. Exasol keeps the window calculations beside the run history, so Python does not rebuild them.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9057C-E9E7-4A82-85CC-59F0E1A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2376F-DBBF-4F01-B65F-09D7B28E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48927-F426-4975-ADB7-764EA283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query-output-label">
            <a:extLst xmlns:a="http://schemas.openxmlformats.org/drawingml/2006/main">
              <a:ext uri="{FF2B5EF4-FFF2-40B4-BE49-F238E27FC236}">
                <a16:creationId xmlns:a16="http://schemas.microsoft.com/office/drawing/2014/main" id="{B2869ADF-8687-48CA-B478-CE10458E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243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ACTUAL OUTPUT FROM LOCAL EXASOL</a:t>
            </a:r>
          </a:p>
        </p:txBody>
      </p:sp>
      <p:sp>
        <p:nvSpPr>
          <p:cNvPr id="23" name="query-output">
            <a:extLst xmlns:a="http://schemas.openxmlformats.org/drawingml/2006/main">
              <a:ext uri="{FF2B5EF4-FFF2-40B4-BE49-F238E27FC236}">
                <a16:creationId xmlns:a16="http://schemas.microsoft.com/office/drawing/2014/main" id="{F47A54F9-3916-4C1B-AA40-64BF625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2026-10-15   5 runs   4 incidents</a:t>
            </a:r>
          </a:p>
          <a:p xmlns:a="http://schemas.openxmlformats.org/drawingml/2006/main">
            <a:pPr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56.0% average completeness   16.0% rolling failure rate</a:t>
            </a:r>
          </a:p>
        </p:txBody>
      </p:sp>
    </p:spTree>
    <p:extLst>
      <p:ext uri="{BB962C8B-B14F-4D97-AF65-F5344CB8AC3E}">
        <p14:creationId xmlns:p14="http://schemas.microsoft.com/office/powerpoint/2010/main" val="609782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490F3-3205-47D3-81F2-B2E4EC3C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MEASURED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42010-3354-4173-9B2F-B50C7101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1,000,000 synthetic run rows: 473 ms median and 504 ms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E8A72-A8C5-4D6B-9FBF-9FFBBB0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473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47A74-FE69-4DFA-9B0D-4FF80539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53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median analytical 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DD64B-77F2-4195-B109-3DF5188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91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60/60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5E40-79E2-45ED-A1E4-6F3A56CC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53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9F08F-E928-4DA0-B346-1E3047E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11EDF-4B9D-4318-92D6-B6B1CD8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predefined synthetic challenge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0107B-7DE0-4040-9DA3-536491D3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3.025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D39FB-6DAB-4529-91A8-DF5B148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1,000,000-row import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67041-1118-4DA2-A7BE-5A615056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74809A"/>
                </a:solidFill>
                <a:latin typeface="Arial"/>
                <a:ea typeface="Arial"/>
                <a:cs typeface="Arial"/>
              </a:rPr>
              <a:t>Records: reports/exasol-benchmark.json. Reproduce with scripts/benchmark_exasol.py, pytest -q, and tests/run_evaluation.py. Local single-user, 7 repeats. No concurrency claim.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EF85-0310-4285-B752-FCC776A5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F5261-2B68-4156-8471-8FED503A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889EB-1BD7-4B47-853F-19A4FCF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80B3791D-2D4B-48D5-B66C-138E190A9A81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6667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a8bf80826e4f3a"/>
          </a:graphicData>
        </a:graphic>
      </p:graphicFrame>
    </p:spTree>
    <p:extLst>
      <p:ext uri="{BB962C8B-B14F-4D97-AF65-F5344CB8AC3E}">
        <p14:creationId xmlns:p14="http://schemas.microsoft.com/office/powerpoint/2010/main" val="1001122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33EDC-08C1-42A0-9A42-9B4780B4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TRUST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D4EDD-29B2-4F49-9A24-C995E3EB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The product is designed to abstain before it overclaims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95F7B-33FE-4CF1-B78E-E73D47D369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d294e549b4eb4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6762750" cy="3800475"/>
          </a:xfrm>
          <a:prstGeom xmlns:a="http://schemas.openxmlformats.org/drawingml/2006/main" prst="roundRect">
            <a:avLst>
              <a:gd name="adj" fmla="val 300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160EE-D22A-4DB2-B2AF-2571C8C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E224E-B5F8-4753-846D-D26B42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Source-backed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05F54-2230-4A3D-9742-F9DF94BA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C84AB-CC67-4278-A39C-7EC0E81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Evidence-supported possibility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63747-528F-4B36-8392-ED73F2D1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C1ABD-D53B-4C58-8397-F56D7B8B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Reserved for human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D7307-8192-46A6-9AA6-B907714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8B76E"/>
                </a:solidFill>
                <a:latin typeface="Arial"/>
                <a:ea typeface="Arial"/>
                <a:cs typeface="Arial"/>
              </a:rPr>
              <a:t>INSUFFICIENT EVIDENCE EXAMPLE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8B76E"/>
                </a:solidFill>
                <a:latin typeface="Arial"/>
                <a:ea typeface="Arial"/>
                <a:cs typeface="Arial"/>
              </a:rPr>
              <a:t>Worker exited with code 71. No diagnostic details.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8B76E"/>
                </a:solidFill>
                <a:latin typeface="Arial"/>
                <a:ea typeface="Arial"/>
                <a:cs typeface="Arial"/>
              </a:rPr>
              <a:t>Result: unclassified. Optional summary cannot confirm a cause or run a repair.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BD08C-476E-401A-A3D9-BDB7CD0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0B2C3-CC6E-41B0-83CC-FAD5C7E2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46E27-F104-482C-A7BE-E5EAED2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7012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F1442-DFE5-406E-893D-C2485EFC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VALIDATION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D91EE-A427-4473-B243-B8FF9005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What is proven, and what must be proven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B0726-C442-4435-A501-B873897B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DDB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26209-DA73-4FA4-AE4F-3B654F1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PROVEN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E866A-975A-4E0E-B02B-ED672CE0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01  Live Exasol-backed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30F43-21A5-4BA4-AA32-6E6C03F7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02  One-million-row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27B3B-AD6A-46E5-A785-C7FB4CBE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03  </a:t>
            </a: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60</a:t>
            </a: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 automated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BAC7B-33EB-43ED-B166-06DD95AA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04  Optional structured LLM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5CAC1-23E6-4737-A229-0AA80846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B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AED60-FFD3-44CE-B05F-9D167CE9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DEFINED, NOT 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1EAA-8D5B-48D0-9E71-F6203F40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01  Reviewer holdout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8D41E-0405-4198-BD9E-72E9579E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81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02  Frozen-commit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62489-4DF2-4E6E-84CB-5C84F4A9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03  </a:t>
            </a: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Human impact study runner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56331-F37D-417C-9E10-06624AC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04  LLM summary quality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364B1-C105-47F6-8424-5349E40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B7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EB507-7430-4259-9A77-16CE4622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PRODUCTION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093F9-77E4-443C-9AFD-03D42DB3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01  Orchestrator connectors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57E7D-658E-4A8C-84E5-EB5807F4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02  Authentication and authorization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6C30E-766C-455D-996C-71179B40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03  Concurrent workload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B4299-5DC3-450F-8385-7E06E80C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04  Audited retention and monitoring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81144-81C8-4601-81D1-CB1047F8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No independent holdout result or measured productivity improvement is claimed.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21384-59F1-4490-A11A-231305E0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F56C3-1BF3-4229-94A5-CB073F9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55044-99B0-4BB6-B1E3-A34E5128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2281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0A548-206B-4000-ABD3-CACE5BED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OPSINTEL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46DEE-DA81-4CCA-9EF8-27E43435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52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Follow the evidence.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Investigate faster.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Confirm carefully.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FF222-CAED-4B1D-A3D0-259F534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DDB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CBFAA-E76B-4692-AD83-09F719B0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github.com/Anafa-thabassum/opsintel-ai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5045E-1F28-4C2C-9CF0-79B788B0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Live demo: one incident, five observations, one safe 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65DFE-A9D4-4C15-B854-3B231E8D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5292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2026-10-19T04:15:46.3490000Z</dcterms:created>
  <dcterms:modified xsi:type="dcterms:W3CDTF">2026-10-19T04:15:46.3490000Z</dcterms:modified>
</coreProperties>
</file>