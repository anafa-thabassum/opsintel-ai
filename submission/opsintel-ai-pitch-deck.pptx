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5b820a3f3e4048" /><Relationship Type="http://schemas.openxmlformats.org/officeDocument/2006/relationships/extended-properties" Target="/docProps/app.xml" Id="R26ee8b76f52440db" /><Relationship Type="http://schemas.openxmlformats.org/officeDocument/2006/relationships/officeDocument" Target="/ppt/presentation.xml" Id="R2b8b63c501684e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85ef9e45ee14cfb"/>
  </p:sldMasterIdLst>
  <p:notesMasterIdLst>
    <p:notesMasterId xmlns:r="http://schemas.openxmlformats.org/officeDocument/2006/relationships" r:id="Rc5f23f655eb24801"/>
  </p:notesMasterIdLst>
  <p:sldIdLst>
    <p:sldId xmlns:r="http://schemas.openxmlformats.org/officeDocument/2006/relationships" id="256" r:id="Rf48da5815d254036"/>
    <p:sldId xmlns:r="http://schemas.openxmlformats.org/officeDocument/2006/relationships" id="257" r:id="R1bb3f21672e24cc4"/>
    <p:sldId xmlns:r="http://schemas.openxmlformats.org/officeDocument/2006/relationships" id="258" r:id="R41ba2014b8ee4895"/>
    <p:sldId xmlns:r="http://schemas.openxmlformats.org/officeDocument/2006/relationships" id="259" r:id="Rbf95ed7f85d84357"/>
    <p:sldId xmlns:r="http://schemas.openxmlformats.org/officeDocument/2006/relationships" id="260" r:id="R5cae5e15ade04ed5"/>
    <p:sldId xmlns:r="http://schemas.openxmlformats.org/officeDocument/2006/relationships" id="261" r:id="R6a3c686bbdf544ff"/>
    <p:sldId xmlns:r="http://schemas.openxmlformats.org/officeDocument/2006/relationships" id="262" r:id="R2814c6afbd1f40d3"/>
    <p:sldId xmlns:r="http://schemas.openxmlformats.org/officeDocument/2006/relationships" id="263" r:id="R7ef5e529f3504882"/>
    <p:sldId xmlns:r="http://schemas.openxmlformats.org/officeDocument/2006/relationships" id="264" r:id="R7b3011604d394295"/>
    <p:sldId xmlns:r="http://schemas.openxmlformats.org/officeDocument/2006/relationships" id="265" r:id="R1edcc3bee90d48b4"/>
    <p:sldId xmlns:r="http://schemas.openxmlformats.org/officeDocument/2006/relationships" id="266" r:id="Ra90352d2303f4c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068fc04b164323" /><Relationship Type="http://schemas.openxmlformats.org/officeDocument/2006/relationships/slideMaster" Target="/ppt/slideMasters/slideMaster1.xml" Id="R385ef9e45ee14cfb" /><Relationship Type="http://schemas.openxmlformats.org/officeDocument/2006/relationships/notesMaster" Target="/ppt/notesMasters/notesMaster1.xml" Id="Rc5f23f655eb24801" /><Relationship Type="http://schemas.openxmlformats.org/officeDocument/2006/relationships/presProps" Target="/ppt/presProps.xml" Id="Rd2776a203bd44182" /><Relationship Type="http://schemas.openxmlformats.org/officeDocument/2006/relationships/tableStyles" Target="/ppt/tableStyles.xml" Id="R1f7db9c09bfd4d53" /><Relationship Type="http://schemas.openxmlformats.org/officeDocument/2006/relationships/slide" Target="/ppt/slides/slide1.xml" Id="Rf48da5815d254036" /><Relationship Type="http://schemas.openxmlformats.org/officeDocument/2006/relationships/slide" Target="/ppt/slides/slide2.xml" Id="R1bb3f21672e24cc4" /><Relationship Type="http://schemas.openxmlformats.org/officeDocument/2006/relationships/slide" Target="/ppt/slides/slide3.xml" Id="R41ba2014b8ee4895" /><Relationship Type="http://schemas.openxmlformats.org/officeDocument/2006/relationships/slide" Target="/ppt/slides/slide4.xml" Id="Rbf95ed7f85d84357" /><Relationship Type="http://schemas.openxmlformats.org/officeDocument/2006/relationships/slide" Target="/ppt/slides/slide5.xml" Id="R5cae5e15ade04ed5" /><Relationship Type="http://schemas.openxmlformats.org/officeDocument/2006/relationships/slide" Target="/ppt/slides/slide6.xml" Id="R6a3c686bbdf544ff" /><Relationship Type="http://schemas.openxmlformats.org/officeDocument/2006/relationships/slide" Target="/ppt/slides/slide7.xml" Id="R2814c6afbd1f40d3" /><Relationship Type="http://schemas.openxmlformats.org/officeDocument/2006/relationships/slide" Target="/ppt/slides/slide8.xml" Id="R7ef5e529f3504882" /><Relationship Type="http://schemas.openxmlformats.org/officeDocument/2006/relationships/slide" Target="/ppt/slides/slide9.xml" Id="R7b3011604d394295" /><Relationship Type="http://schemas.openxmlformats.org/officeDocument/2006/relationships/slide" Target="/ppt/slides/slide10.xml" Id="R1edcc3bee90d48b4" /><Relationship Type="http://schemas.openxmlformats.org/officeDocument/2006/relationships/slide" Target="/ppt/slides/slide11.xml" Id="Ra90352d2303f4c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96c28ea3b047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6ff7811f9447e8" /><Relationship Type="http://schemas.openxmlformats.org/officeDocument/2006/relationships/notesMaster" Target="/ppt/notesMasters/notesMaster1.xml" Id="Rd4951eebcb6c4c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e1430556b54aff" /><Relationship Type="http://schemas.openxmlformats.org/officeDocument/2006/relationships/notesMaster" Target="/ppt/notesMasters/notesMaster1.xml" Id="R1e7507879aae4a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0ca2480b824986" /><Relationship Type="http://schemas.openxmlformats.org/officeDocument/2006/relationships/notesMaster" Target="/ppt/notesMasters/notesMaster1.xml" Id="R4f76c7a056fa4f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dd5e94fa4a4b4a" /><Relationship Type="http://schemas.openxmlformats.org/officeDocument/2006/relationships/notesMaster" Target="/ppt/notesMasters/notesMaster1.xml" Id="R6f85d3cfac154f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a1bb4021fe6464d" /><Relationship Type="http://schemas.openxmlformats.org/officeDocument/2006/relationships/notesMaster" Target="/ppt/notesMasters/notesMaster1.xml" Id="R3f43bd1ff8914c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32874a17584b82" /><Relationship Type="http://schemas.openxmlformats.org/officeDocument/2006/relationships/notesMaster" Target="/ppt/notesMasters/notesMaster1.xml" Id="Rc48a1e5e9e884b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5f7f3d62154c7e" /><Relationship Type="http://schemas.openxmlformats.org/officeDocument/2006/relationships/notesMaster" Target="/ppt/notesMasters/notesMaster1.xml" Id="R7456a91ea99347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fc414b12ac144cc" /><Relationship Type="http://schemas.openxmlformats.org/officeDocument/2006/relationships/notesMaster" Target="/ppt/notesMasters/notesMaster1.xml" Id="R2da3658d8f8a4f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4f3364fcb54296" /><Relationship Type="http://schemas.openxmlformats.org/officeDocument/2006/relationships/notesMaster" Target="/ppt/notesMasters/notesMaster1.xml" Id="Ra3666f89656e480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0bc1b74ab284b43" /><Relationship Type="http://schemas.openxmlformats.org/officeDocument/2006/relationships/notesMaster" Target="/ppt/notesMasters/notesMaster1.xml" Id="Rb448099265d64c1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73ab06f12d4811" /><Relationship Type="http://schemas.openxmlformats.org/officeDocument/2006/relationships/notesMaster" Target="/ppt/notesMasters/notesMaster1.xml" Id="R87aabd665b7e49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reports/final-priorities-2026-10-31.md. Product description reflects investigation and reviewer-governed memory; it does not claim pipeline repair or measured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  <a:p xmlns:a="http://schemas.openxmlformats.org/drawingml/2006/main">
            <a:br/>
            <a:r>
              <a:t>Source for outage-cost context: Uptime Institute Global Data Center Survey 2024, p. 19. https://datacenter.uptimeinstitute.com/rs/711-RIA-145/images/2024.GlobalDataCenterSurvey.Report.pdf?version=0. This is broader outage context, not a measured OpsIntel or pipeline-specific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app/investigator.py; app/main.py; app/memory.py; docs/verified-incident-memory.md. Deterministic classification remains primary. Optional LLM narrative cannot confirm causes. Memory approval requires a separate reviewer and evidence checklist. No automatic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synthetic Exasol demo schema and dashboard. Values are generated demo telemetry, not production. Exasol was unavailable during the final 2026-10-31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reports/exasol-benchmark.json; reports/evaluation.md. Analytical features use Exasol SQL. Reported query is historical local output; no live database was available in the final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sql/analysis/dependency_cascades.sql; reports/evaluation.md. CONNECT BY reports time correlation within 120 minutes. It does not establish causality. Candidate retrieval similarity is scored in the application; there is no memory UDF.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reports/database-comparison.json; reports/evaluation.md; reports/public-data-evaluation.md; reports/independent-holdout-v1.md; reports/classifier-improvement-report-v1.md. The 197 test count matches the current local verification run. Public 7/10 labels are project-authored, not independent ground truth. The 15/19 result is a comparison against the same historical reviewer set whose original baseline was 4/19; it is not a new independent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app/memory.py; reports/classifier-design-addendum-v1.md; docs/verified-incident-memory.md. Reviewer and class-specific checklist policy is approved as design but not empirically validated. No actual human confirmation was performed for this deck revision.</a:t>
            </a:r>
          </a:p>
          <a:p xmlns:a="http://schemas.openxmlformats.org/drawingml/2006/main">
            <a:r>
              <a:t>Concept reference: user-provided OpsIntel_Verified_Incident_Memory.pdf, pp. 1–4. The learning-curve graphic and target figures in that proposal are illustrative, not measured OpsIntel results. Matching is computed in FastAPI after Exasol filters active records.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reports/independent-holdout-v1.md; reports/classifier-improvement-report-v1.md; reports/public-data-evaluation.md; reports/business-impact-study.md; docs/verified-incident-memory.md. The 15/19 result reuses the original 19-case holdout and is not an independent evaluation. Public-data labels are project-assigned. No participant trial or new memory confirmation is claimed. Exasol was unavailable during the current UI check.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https://github.com/Anafa-thabassum/opsintel-ai. Existing video is an older 154.445-second recording and does not demonstrate verified memory. No new recording was made in this revision.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8832a3f4da4f1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7b055ace164fd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a6b6a00c374cd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cbd99c1c3f479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62e84a66e54a8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df2fde076949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f935b3fe4441ac" /><Relationship Type="http://schemas.openxmlformats.org/officeDocument/2006/relationships/slideLayout" Target="/ppt/slideLayouts/slideLayout1.xml" Id="R01302da5c915426a" /><Relationship Type="http://schemas.openxmlformats.org/officeDocument/2006/relationships/slideLayout" Target="/ppt/slideLayouts/slideLayout2.xml" Id="R66fc5a5c174041d8" /><Relationship Type="http://schemas.openxmlformats.org/officeDocument/2006/relationships/slideLayout" Target="/ppt/slideLayouts/slideLayout3.xml" Id="R964192d5895a478f" /><Relationship Type="http://schemas.openxmlformats.org/officeDocument/2006/relationships/slideLayout" Target="/ppt/slideLayouts/slideLayout4.xml" Id="Rce588752c68542c2" /><Relationship Type="http://schemas.openxmlformats.org/officeDocument/2006/relationships/slideLayout" Target="/ppt/slideLayouts/slideLayout5.xml" Id="Ra8c12ffd7e7c4ae7" /><Relationship Type="http://schemas.openxmlformats.org/officeDocument/2006/relationships/slideLayout" Target="/ppt/slideLayouts/slideLayout6.xml" Id="R31196169b46949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302da5c915426a"/>
    <p:sldLayoutId xmlns:r="http://schemas.openxmlformats.org/officeDocument/2006/relationships" id="2147483650" r:id="R66fc5a5c174041d8"/>
    <p:sldLayoutId xmlns:r="http://schemas.openxmlformats.org/officeDocument/2006/relationships" id="2147483651" r:id="R964192d5895a478f"/>
    <p:sldLayoutId xmlns:r="http://schemas.openxmlformats.org/officeDocument/2006/relationships" id="2147483652" r:id="Rce588752c68542c2"/>
    <p:sldLayoutId xmlns:r="http://schemas.openxmlformats.org/officeDocument/2006/relationships" id="2147483653" r:id="Ra8c12ffd7e7c4ae7"/>
    <p:sldLayoutId xmlns:r="http://schemas.openxmlformats.org/officeDocument/2006/relationships" id="2147483654" r:id="R31196169b46949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4315a302d443ee" /><Relationship Type="http://schemas.openxmlformats.org/officeDocument/2006/relationships/notesSlide" Target="/ppt/notesSlides/notesSlide1.xml" Id="R29fd114f34f04c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fc494e5b6340e6" /><Relationship Type="http://schemas.openxmlformats.org/officeDocument/2006/relationships/notesSlide" Target="/ppt/notesSlides/notesSlide2.xml" Id="Rc6554ae0ca054c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58ff8f0f874d44" /><Relationship Type="http://schemas.openxmlformats.org/officeDocument/2006/relationships/notesSlide" Target="/ppt/notesSlides/notesSlide3.xml" Id="Re2468cdb1edb49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fd42008a73498a" /><Relationship Type="http://schemas.openxmlformats.org/officeDocument/2006/relationships/image" Target="/ppt/media/image.jpeg" Id="R75166293a3a64f84" /><Relationship Type="http://schemas.openxmlformats.org/officeDocument/2006/relationships/notesSlide" Target="/ppt/notesSlides/notesSlide4.xml" Id="Rec8d8efe6b50435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cac3694faf4901" /><Relationship Type="http://schemas.openxmlformats.org/officeDocument/2006/relationships/image" Target="/ppt/media/image2.jpeg" Id="Rcc35607d2fd04cd3" /><Relationship Type="http://schemas.openxmlformats.org/officeDocument/2006/relationships/notesSlide" Target="/ppt/notesSlides/notesSlide5.xml" Id="R72c7e76d8f4a4b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1e67268b2747d5" /><Relationship Type="http://schemas.openxmlformats.org/officeDocument/2006/relationships/notesSlide" Target="/ppt/notesSlides/notesSlide6.xml" Id="R741b59b58c8d4d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b174e4a36342ee" /><Relationship Type="http://schemas.openxmlformats.org/officeDocument/2006/relationships/notesSlide" Target="/ppt/notesSlides/notesSlide7.xml" Id="R68058b882d7a45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873979703c4fa5" /><Relationship Type="http://schemas.openxmlformats.org/officeDocument/2006/relationships/image" Target="/ppt/media/image.png" Id="R3141fed8595446e0" /><Relationship Type="http://schemas.openxmlformats.org/officeDocument/2006/relationships/notesSlide" Target="/ppt/notesSlides/notesSlide8.xml" Id="R0fe40b479f9e43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dae4e4155d4d55" /><Relationship Type="http://schemas.openxmlformats.org/officeDocument/2006/relationships/image" Target="/ppt/media/image3.jpeg" Id="Reee97e0c2b2d4ffb" /><Relationship Type="http://schemas.openxmlformats.org/officeDocument/2006/relationships/notesSlide" Target="/ppt/notesSlides/notesSlide9.xml" Id="Rd704445ef37a4c8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aa64d88195418e" /><Relationship Type="http://schemas.openxmlformats.org/officeDocument/2006/relationships/notesSlide" Target="/ppt/notesSlides/notesSlide10.xml" Id="Rde4f0c4d3ab142a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dd0f368ac5473f" /><Relationship Type="http://schemas.openxmlformats.org/officeDocument/2006/relationships/notesSlide" Target="/ppt/notesSlides/notesSlide11.xml" Id="R1cbe4f1fe2d34a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Evidence-first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Investigate incidents with traceable evidence and reviewer-governed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+ public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On-call engineers piece together pipeline incidents from scattered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Run status, counts, and logs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 failed run reports 80 of 100 expected rows. The engineer must connect run history, counts, and logs before choosing the next check.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facts separate from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Cause stays unconfirmed until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504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54% of survey respondents reported a significant outage costing more than $100k (Uptime Institute, 2024). OpsIntel time saving remains unmeasured.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evidence becomes a reviewable investigation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Investigator submits;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reviewer decides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deterministic classifier proposes symptoms and candidates. An optional LLM only summarizes retrieved evidence. A separate authorized reviewer checks criteria and evidence before Exasol stores a confirmation. No repair runs automatically.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DASHBOARD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dashboard view · synthetic demo telemetry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8F3B1F-CCFF-4D2B-84FB-07FF99C6F7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166293a3a64f84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in the captured 4-case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Captured baseline: 4 incidents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Current seed: 11 incident scenarios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All values are synthetic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A23A36-CB35-4A2C-AC26-6F613A8CA4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35607d2fd04cd3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failure vs last success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619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Failed: 80 / 100 rows (80%)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Last success: 100 / 100 (100%)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Change: -20 rows / -20 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FAILED VS LAST SUCCESS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HUMAN 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Not yet verified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 automated repair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Parallel in-memory SQL execution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verified-query-panel">
            <a:extLst xmlns:a="http://schemas.openxmlformats.org/drawingml/2006/main">
              <a:ext uri="{FF2B5EF4-FFF2-40B4-BE49-F238E27FC236}">
                <a16:creationId xmlns:a16="http://schemas.microsoft.com/office/drawing/2014/main" id="{33216510-30A7-404A-8452-048BBEE7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23" name="verified-query-title">
            <a:extLst xmlns:a="http://schemas.openxmlformats.org/drawingml/2006/main">
              <a:ext uri="{FF2B5EF4-FFF2-40B4-BE49-F238E27FC236}">
                <a16:creationId xmlns:a16="http://schemas.microsoft.com/office/drawing/2014/main" id="{FE72BC8C-8EDF-4D45-A594-44BF8BBB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LIVE QUERY USED BY /analytics/trend</a:t>
            </a:r>
          </a:p>
        </p:txBody>
      </p:sp>
      <p:sp>
        <p:nvSpPr>
          <p:cNvPr id="24" name="verified-query">
            <a:extLst xmlns:a="http://schemas.openxmlformats.org/drawingml/2006/main">
              <a:ext uri="{FF2B5EF4-FFF2-40B4-BE49-F238E27FC236}">
                <a16:creationId xmlns:a16="http://schemas.microsoft.com/office/drawing/2014/main" id="{8629D6B4-E3B0-4391-AC32-519391782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9911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1pPr>
            <a:lvl2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2pPr>
            <a:lvl3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3pPr>
            <a:lvl4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4pPr>
            <a:lvl5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5pPr>
            <a:lvl6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6pPr>
            <a:lvl7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7pPr>
            <a:lvl8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8pPr>
            <a:lvl9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RUN_DAY, COUNT(*) AS TOTAL_RUNS,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SUM(IS_INCIDENT) AS INCIDENT_COUNT,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>
              <a:buNone/>
              <a:def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105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RUN_DAY;</a:t>
            </a:r>
          </a:p>
        </p:txBody>
      </p:sp>
      <p:sp>
        <p:nvSpPr>
          <p:cNvPr id="25" name="query-divider">
            <a:extLst xmlns:a="http://schemas.openxmlformats.org/drawingml/2006/main">
              <a:ext uri="{FF2B5EF4-FFF2-40B4-BE49-F238E27FC236}">
                <a16:creationId xmlns:a16="http://schemas.microsoft.com/office/drawing/2014/main" id="{9C955A80-8ED9-407E-BE0B-2D172E24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48125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3149"/>
            </a:solidFill>
            <a:prstDash val="solid"/>
          </a:ln>
        </p:spPr>
      </p:sp>
      <p:sp>
        <p:nvSpPr>
          <p:cNvPr id="26" name="verified-result-label">
            <a:extLst xmlns:a="http://schemas.openxmlformats.org/drawingml/2006/main">
              <a:ext uri="{FF2B5EF4-FFF2-40B4-BE49-F238E27FC236}">
                <a16:creationId xmlns:a16="http://schemas.microsoft.com/office/drawing/2014/main" id="{3D673C3E-5C86-4639-BAA4-CCE63A02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9575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VERIFIED EXASOL OUTPUT</a:t>
            </a:r>
          </a:p>
        </p:txBody>
      </p:sp>
      <p:sp>
        <p:nvSpPr>
          <p:cNvPr id="27" name="verified-result-metrics">
            <a:extLst xmlns:a="http://schemas.openxmlformats.org/drawingml/2006/main">
              <a:ext uri="{FF2B5EF4-FFF2-40B4-BE49-F238E27FC236}">
                <a16:creationId xmlns:a16="http://schemas.microsoft.com/office/drawing/2014/main" id="{03630B6C-26EA-4980-9677-87674AA6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12 runs, 11 incidents, 64.1% average completeness</a:t>
            </a:r>
          </a:p>
        </p:txBody>
      </p:sp>
      <p:sp>
        <p:nvSpPr>
          <p:cNvPr id="28" name="verified-result-note">
            <a:extLst xmlns:a="http://schemas.openxmlformats.org/drawingml/2006/main">
              <a:ext uri="{FF2B5EF4-FFF2-40B4-BE49-F238E27FC236}">
                <a16:creationId xmlns:a16="http://schemas.microsoft.com/office/drawing/2014/main" id="{176A5CC8-C0C2-48A6-A340-0890F102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75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9AA5BD"/>
                </a:solidFill>
                <a:latin typeface="Arial"/>
                <a:ea typeface="Arial"/>
                <a:cs typeface="Arial"/>
              </a:rPr>
              <a:t>Recorded Exasol Personal output for the synthetic demo schema; it is not a live service check from this run.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apability-eyebrow">
            <a:extLst xmlns:a="http://schemas.openxmlformats.org/drawingml/2006/main">
              <a:ext uri="{FF2B5EF4-FFF2-40B4-BE49-F238E27FC236}">
                <a16:creationId xmlns:a16="http://schemas.microsoft.com/office/drawing/2014/main" id="{A7A0DB6C-1E7F-460F-BBC1-174CBA23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TEMPORAL DEPENDENCY CORRELATION</a:t>
            </a:r>
          </a:p>
        </p:txBody>
      </p:sp>
      <p:sp>
        <p:nvSpPr>
          <p:cNvPr id="2" name="capability-title">
            <a:extLst xmlns:a="http://schemas.openxmlformats.org/drawingml/2006/main">
              <a:ext uri="{FF2B5EF4-FFF2-40B4-BE49-F238E27FC236}">
                <a16:creationId xmlns:a16="http://schemas.microsoft.com/office/drawing/2014/main" id="{6C9C34D8-DA85-468D-BCB9-69412FB3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CONNECT BY surfaces time-correlated downstream failures</a:t>
            </a:r>
          </a:p>
        </p:txBody>
      </p:sp>
      <p:sp>
        <p:nvSpPr>
          <p:cNvPr id="3" name="capability-card-01">
            <a:extLst xmlns:a="http://schemas.openxmlformats.org/drawingml/2006/main">
              <a:ext uri="{FF2B5EF4-FFF2-40B4-BE49-F238E27FC236}">
                <a16:creationId xmlns:a16="http://schemas.microsoft.com/office/drawing/2014/main" id="{0B0D26DB-0ADE-45B3-8181-6BB3DA68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61D9F7"/>
            </a:solidFill>
            <a:prstDash val="solid"/>
          </a:ln>
        </p:spPr>
      </p:sp>
      <p:sp>
        <p:nvSpPr>
          <p:cNvPr id="4" name="capability-number-01">
            <a:extLst xmlns:a="http://schemas.openxmlformats.org/drawingml/2006/main">
              <a:ext uri="{FF2B5EF4-FFF2-40B4-BE49-F238E27FC236}">
                <a16:creationId xmlns:a16="http://schemas.microsoft.com/office/drawing/2014/main" id="{076C3E8E-D95B-42A4-8F1E-33717C4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capability-title-01">
            <a:extLst xmlns:a="http://schemas.openxmlformats.org/drawingml/2006/main">
              <a:ext uri="{FF2B5EF4-FFF2-40B4-BE49-F238E27FC236}">
                <a16:creationId xmlns:a16="http://schemas.microsoft.com/office/drawing/2014/main" id="{BE4E7170-B334-41D0-89DA-072DEDC9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Window analytics at scale</a:t>
            </a:r>
          </a:p>
        </p:txBody>
      </p:sp>
      <p:sp>
        <p:nvSpPr>
          <p:cNvPr id="6" name="capability-body-01">
            <a:extLst xmlns:a="http://schemas.openxmlformats.org/drawingml/2006/main">
              <a:ext uri="{FF2B5EF4-FFF2-40B4-BE49-F238E27FC236}">
                <a16:creationId xmlns:a16="http://schemas.microsoft.com/office/drawing/2014/main" id="{94F0FBF6-9949-4AE7-856A-733767AC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LAG, rolling baselines and failure rates compare each run with recent history inside Exasol.</a:t>
            </a:r>
          </a:p>
        </p:txBody>
      </p:sp>
      <p:sp>
        <p:nvSpPr>
          <p:cNvPr id="7" name="capability-card-02">
            <a:extLst xmlns:a="http://schemas.openxmlformats.org/drawingml/2006/main">
              <a:ext uri="{FF2B5EF4-FFF2-40B4-BE49-F238E27FC236}">
                <a16:creationId xmlns:a16="http://schemas.microsoft.com/office/drawing/2014/main" id="{E35A2293-B644-445D-B69A-F2B1A6F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9B8CFF"/>
            </a:solidFill>
            <a:prstDash val="solid"/>
          </a:ln>
        </p:spPr>
      </p:sp>
      <p:sp>
        <p:nvSpPr>
          <p:cNvPr id="8" name="capability-number-02">
            <a:extLst xmlns:a="http://schemas.openxmlformats.org/drawingml/2006/main">
              <a:ext uri="{FF2B5EF4-FFF2-40B4-BE49-F238E27FC236}">
                <a16:creationId xmlns:a16="http://schemas.microsoft.com/office/drawing/2014/main" id="{7F61B0DE-B4A6-4B05-9124-7ACA4B67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capability-title-02">
            <a:extLst xmlns:a="http://schemas.openxmlformats.org/drawingml/2006/main">
              <a:ext uri="{FF2B5EF4-FFF2-40B4-BE49-F238E27FC236}">
                <a16:creationId xmlns:a16="http://schemas.microsoft.com/office/drawing/2014/main" id="{077EECEC-04F3-4FAD-9C72-BA593F3F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Failure cascade</a:t>
            </a:r>
          </a:p>
        </p:txBody>
      </p:sp>
      <p:sp>
        <p:nvSpPr>
          <p:cNvPr id="10" name="capability-body-02">
            <a:extLst xmlns:a="http://schemas.openxmlformats.org/drawingml/2006/main">
              <a:ext uri="{FF2B5EF4-FFF2-40B4-BE49-F238E27FC236}">
                <a16:creationId xmlns:a16="http://schemas.microsoft.com/office/drawing/2014/main" id="{70F359FA-56C6-4625-B973-A1AD46BD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CONNECT BY retains downstream failures within a 120-minute window. Temporal correlation only. Causation not confirmed.</a:t>
            </a:r>
          </a:p>
        </p:txBody>
      </p:sp>
      <p:sp>
        <p:nvSpPr>
          <p:cNvPr id="11" name="capability-card-03">
            <a:extLst xmlns:a="http://schemas.openxmlformats.org/drawingml/2006/main">
              <a:ext uri="{FF2B5EF4-FFF2-40B4-BE49-F238E27FC236}">
                <a16:creationId xmlns:a16="http://schemas.microsoft.com/office/drawing/2014/main" id="{E45C2FE8-9415-4269-96BE-A3ADC320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43125"/>
            <a:ext cx="31432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58DDB0"/>
            </a:solidFill>
            <a:prstDash val="solid"/>
          </a:ln>
        </p:spPr>
      </p:sp>
      <p:sp>
        <p:nvSpPr>
          <p:cNvPr id="12" name="capability-number-03">
            <a:extLst xmlns:a="http://schemas.openxmlformats.org/drawingml/2006/main">
              <a:ext uri="{FF2B5EF4-FFF2-40B4-BE49-F238E27FC236}">
                <a16:creationId xmlns:a16="http://schemas.microsoft.com/office/drawing/2014/main" id="{755449D3-1CDA-4A6B-9A07-4942510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81250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capability-title-03">
            <a:extLst xmlns:a="http://schemas.openxmlformats.org/drawingml/2006/main">
              <a:ext uri="{FF2B5EF4-FFF2-40B4-BE49-F238E27FC236}">
                <a16:creationId xmlns:a16="http://schemas.microsoft.com/office/drawing/2014/main" id="{7836BFBC-B511-413E-B1BB-382B0346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90825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layer</a:t>
            </a:r>
          </a:p>
        </p:txBody>
      </p:sp>
      <p:sp>
        <p:nvSpPr>
          <p:cNvPr id="14" name="capability-body-03">
            <a:extLst xmlns:a="http://schemas.openxmlformats.org/drawingml/2006/main">
              <a:ext uri="{FF2B5EF4-FFF2-40B4-BE49-F238E27FC236}">
                <a16:creationId xmlns:a16="http://schemas.microsoft.com/office/drawing/2014/main" id="{19D49740-D9A8-4098-A84F-635B779A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6289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 same SQL-derived metrics and source records that judges can inspect in the dashboard.</a:t>
            </a:r>
          </a:p>
        </p:txBody>
      </p:sp>
      <p:sp>
        <p:nvSpPr>
          <p:cNvPr id="15" name="cascade-label">
            <a:extLst xmlns:a="http://schemas.openxmlformats.org/drawingml/2006/main">
              <a:ext uri="{FF2B5EF4-FFF2-40B4-BE49-F238E27FC236}">
                <a16:creationId xmlns:a16="http://schemas.microsoft.com/office/drawing/2014/main" id="{CA4ACBF8-EF80-44A7-8A9D-7B035A9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IMPLEMENTED CASCADE QUERY</a:t>
            </a:r>
          </a:p>
        </p:txBody>
      </p:sp>
      <p:sp>
        <p:nvSpPr>
          <p:cNvPr id="16" name="cascade-root">
            <a:extLst xmlns:a="http://schemas.openxmlformats.org/drawingml/2006/main">
              <a:ext uri="{FF2B5EF4-FFF2-40B4-BE49-F238E27FC236}">
                <a16:creationId xmlns:a16="http://schemas.microsoft.com/office/drawing/2014/main" id="{6AC1ABC5-71E6-4CBA-8187-6377B23D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14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customer_sync</a:t>
            </a:r>
          </a:p>
        </p:txBody>
      </p:sp>
      <p:sp>
        <p:nvSpPr>
          <p:cNvPr id="17" name="cascade-line">
            <a:extLst xmlns:a="http://schemas.openxmlformats.org/drawingml/2006/main">
              <a:ext uri="{FF2B5EF4-FFF2-40B4-BE49-F238E27FC236}">
                <a16:creationId xmlns:a16="http://schemas.microsoft.com/office/drawing/2014/main" id="{97615E1E-F0A2-4C0B-86B2-676AD8CB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46079"/>
            </a:solidFill>
            <a:prstDash val="solid"/>
          </a:ln>
        </p:spPr>
      </p:sp>
      <p:sp>
        <p:nvSpPr>
          <p:cNvPr id="18" name="cascade-arrow">
            <a:extLst xmlns:a="http://schemas.openxmlformats.org/drawingml/2006/main">
              <a:ext uri="{FF2B5EF4-FFF2-40B4-BE49-F238E27FC236}">
                <a16:creationId xmlns:a16="http://schemas.microsoft.com/office/drawing/2014/main" id="{4A54CD24-020E-461E-9E27-FE2CD975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1339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10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cascade-children">
            <a:extLst xmlns:a="http://schemas.openxmlformats.org/drawingml/2006/main">
              <a:ext uri="{FF2B5EF4-FFF2-40B4-BE49-F238E27FC236}">
                <a16:creationId xmlns:a16="http://schemas.microsoft.com/office/drawing/2014/main" id="{57AE45CE-743F-49AC-8D0B-9FEC8D55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91125"/>
            <a:ext cx="668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daily_reporting   ·   customer_orders_sync   ·   billing_customer_export</a:t>
            </a:r>
          </a:p>
        </p:txBody>
      </p:sp>
      <p:sp>
        <p:nvSpPr>
          <p:cNvPr id="20" name="comparison-status">
            <a:extLst xmlns:a="http://schemas.openxmlformats.org/drawingml/2006/main">
              <a:ext uri="{FF2B5EF4-FFF2-40B4-BE49-F238E27FC236}">
                <a16:creationId xmlns:a16="http://schemas.microsoft.com/office/drawing/2014/main" id="{E7FC9993-6555-458B-AB2D-502DCD9D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61D9F7"/>
                </a:solidFill>
                <a:latin typeface="Arial"/>
                <a:ea typeface="Arial"/>
                <a:cs typeface="Arial"/>
              </a:rPr>
              <a:t>Recorded result: customer_sync is associated with 3 later failed runs in a 120-minute window. Bulk import loads benchmark history; matching is not an Exasol UDF.</a:t>
            </a:r>
          </a:p>
        </p:txBody>
      </p:sp>
      <p:sp>
        <p:nvSpPr>
          <p:cNvPr id="21" name="capability-footer-line">
            <a:extLst xmlns:a="http://schemas.openxmlformats.org/drawingml/2006/main">
              <a:ext uri="{FF2B5EF4-FFF2-40B4-BE49-F238E27FC236}">
                <a16:creationId xmlns:a16="http://schemas.microsoft.com/office/drawing/2014/main" id="{7F9793AE-F641-43CE-8331-A6FA7EE5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2" name="capability-footer">
            <a:extLst xmlns:a="http://schemas.openxmlformats.org/drawingml/2006/main">
              <a:ext uri="{FF2B5EF4-FFF2-40B4-BE49-F238E27FC236}">
                <a16:creationId xmlns:a16="http://schemas.microsoft.com/office/drawing/2014/main" id="{3A76A152-8E2E-4913-A965-CF9627A0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3" name="capability-page">
            <a:extLst xmlns:a="http://schemas.openxmlformats.org/drawingml/2006/main">
              <a:ext uri="{FF2B5EF4-FFF2-40B4-BE49-F238E27FC236}">
                <a16:creationId xmlns:a16="http://schemas.microsoft.com/office/drawing/2014/main" id="{87897DF7-DDFF-48FF-8EE6-5A02E82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132287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LOCAL SINGLE-USER 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At 10M rows, DuckDB was 4.5× faster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530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QUERY CACHE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197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400" b="1">
                <a:solidFill>
                  <a:srgbClr val="58D9F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8D9F7"/>
                </a:solidFill>
                <a:latin typeface="Arial"/>
                <a:ea typeface="Arial"/>
                <a:cs typeface="Arial"/>
              </a:rPr>
              <a:t>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95300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REPETITIONS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21970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250" b="1">
                <a:solidFill>
                  <a:srgbClr val="50DEB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0DEB5"/>
                </a:solidFill>
                <a:latin typeface="Arial"/>
                <a:ea typeface="Arial"/>
                <a:cs typeface="Arial"/>
              </a:rPr>
              <a:t>7 RUNS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project labels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synthetic: 27/27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Recorded local benchmark only. Same query, 7 runs per engine, cache off. At 10M rows DuckDB was 4.5× faster in this run. No production or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8FA780-A4D5-42D9-B00C-8376B085A4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41fed8595446e0"/>
          <a:stretch xmlns:a="http://schemas.openxmlformats.org/drawingml/2006/main"/>
        </p:blipFill>
        <p:spPr>
          <a:xfrm xmlns:a="http://schemas.openxmlformats.org/drawingml/2006/main">
            <a:off x="685800" y="2143125"/>
            <a:ext cx="6667500" cy="28575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725AB0-C7A7-4454-9CBE-DCC5215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825">
                <a:solidFill>
                  <a:srgbClr val="6F7B95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F7B95"/>
                </a:solidFill>
                <a:latin typeface="Arial"/>
                <a:ea typeface="Arial"/>
                <a:cs typeface="Arial"/>
              </a:rPr>
              <a:t>Source figure (non-editable). 10M medians: Exasol 4902.269 ms; DuckDB 1080.358 ms.</a:t>
            </a:r>
          </a:p>
        </p:txBody>
      </p:sp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Verified memory requires a separate reviewer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C367BC-8474-4725-9E65-2AC74802A2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e97e0c2b2d4ffb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Authorized reviewer + evidence checklist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Investigator submits cited evidence. A separate reviewer checks criteria and conflicts. Exasol stores approval and audit history; FastAPI returns future matches as candidates only.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Measured evidence and remaining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RECORDED IN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Exasol queries, schema, and migration documented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Local 1M/10M benchmark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197 automated tests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App routes inspected locally; Exasol unavailable today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NOT INDEPENDENT 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Historical reviewer set: 4/19 baseline; 15/19 comparison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Same 19 cases; not a new independent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Public corpus: 7/10 project labels; 0 outside adjudicators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Human impact study: 0 participants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NEXT VALIDATION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Rehearse reviewer confirmation on authorized Exasol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Obtain fresh independent labels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Measure engineer investigation outcomes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Record a new walkthrough without simulated actions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Exasol was unavailable for this run. No new memory confirmation, independent labels, user study, or new video is claimed.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with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Keep causes reviewable.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only after review.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Demo status: current video is historical and does not show verified memory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2026-10-31T05:18:00.6490000Z</dcterms:created>
  <dcterms:modified xsi:type="dcterms:W3CDTF">2026-10-31T05:18:00.6490000Z</dcterms:modified>
</coreProperties>
</file>