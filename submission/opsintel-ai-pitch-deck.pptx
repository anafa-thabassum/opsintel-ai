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7e73c8aa104359" /><Relationship Type="http://schemas.openxmlformats.org/officeDocument/2006/relationships/extended-properties" Target="/docProps/app.xml" Id="R518c13ec3cda47d4" /><Relationship Type="http://schemas.openxmlformats.org/officeDocument/2006/relationships/officeDocument" Target="/ppt/presentation.xml" Id="R33529392214844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270e9e2e474543"/>
  </p:sldMasterIdLst>
  <p:notesMasterIdLst>
    <p:notesMasterId xmlns:r="http://schemas.openxmlformats.org/officeDocument/2006/relationships" r:id="R7ae0cdedf6414171"/>
  </p:notesMasterIdLst>
  <p:sldIdLst>
    <p:sldId xmlns:r="http://schemas.openxmlformats.org/officeDocument/2006/relationships" id="256" r:id="Rd4a9c32eb6c5483a"/>
    <p:sldId xmlns:r="http://schemas.openxmlformats.org/officeDocument/2006/relationships" id="257" r:id="Rc0e02d7262cf456e"/>
    <p:sldId xmlns:r="http://schemas.openxmlformats.org/officeDocument/2006/relationships" id="258" r:id="R871a42c024a54208"/>
    <p:sldId xmlns:r="http://schemas.openxmlformats.org/officeDocument/2006/relationships" id="259" r:id="Re825e59c0a4f41bb"/>
    <p:sldId xmlns:r="http://schemas.openxmlformats.org/officeDocument/2006/relationships" id="260" r:id="Ra5f46523676d47bb"/>
    <p:sldId xmlns:r="http://schemas.openxmlformats.org/officeDocument/2006/relationships" id="261" r:id="R0ffd4ae33b65406e"/>
    <p:sldId xmlns:r="http://schemas.openxmlformats.org/officeDocument/2006/relationships" id="262" r:id="Rc29593c8bd8d45f3"/>
    <p:sldId xmlns:r="http://schemas.openxmlformats.org/officeDocument/2006/relationships" id="263" r:id="Rb6e3a270a3ab4c31"/>
    <p:sldId xmlns:r="http://schemas.openxmlformats.org/officeDocument/2006/relationships" id="264" r:id="R3f65b850c74c4ba0"/>
    <p:sldId xmlns:r="http://schemas.openxmlformats.org/officeDocument/2006/relationships" id="265" r:id="R02db9b1a30be4d7a"/>
    <p:sldId xmlns:r="http://schemas.openxmlformats.org/officeDocument/2006/relationships" id="266" r:id="R86226cc3988f40a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71622339ad4bcb" /><Relationship Type="http://schemas.openxmlformats.org/officeDocument/2006/relationships/slideMaster" Target="/ppt/slideMasters/slideMaster1.xml" Id="R9b270e9e2e474543" /><Relationship Type="http://schemas.openxmlformats.org/officeDocument/2006/relationships/notesMaster" Target="/ppt/notesMasters/notesMaster1.xml" Id="R7ae0cdedf6414171" /><Relationship Type="http://schemas.openxmlformats.org/officeDocument/2006/relationships/presProps" Target="/ppt/presProps.xml" Id="Rf99de8a1517f4da3" /><Relationship Type="http://schemas.openxmlformats.org/officeDocument/2006/relationships/tableStyles" Target="/ppt/tableStyles.xml" Id="Rfc34a6c321984a48" /><Relationship Type="http://schemas.openxmlformats.org/officeDocument/2006/relationships/slide" Target="/ppt/slides/slide1.xml" Id="Rd4a9c32eb6c5483a" /><Relationship Type="http://schemas.openxmlformats.org/officeDocument/2006/relationships/slide" Target="/ppt/slides/slide2.xml" Id="Rc0e02d7262cf456e" /><Relationship Type="http://schemas.openxmlformats.org/officeDocument/2006/relationships/slide" Target="/ppt/slides/slide3.xml" Id="R871a42c024a54208" /><Relationship Type="http://schemas.openxmlformats.org/officeDocument/2006/relationships/slide" Target="/ppt/slides/slide4.xml" Id="Re825e59c0a4f41bb" /><Relationship Type="http://schemas.openxmlformats.org/officeDocument/2006/relationships/slide" Target="/ppt/slides/slide5.xml" Id="Ra5f46523676d47bb" /><Relationship Type="http://schemas.openxmlformats.org/officeDocument/2006/relationships/slide" Target="/ppt/slides/slide6.xml" Id="R0ffd4ae33b65406e" /><Relationship Type="http://schemas.openxmlformats.org/officeDocument/2006/relationships/slide" Target="/ppt/slides/slide7.xml" Id="Rc29593c8bd8d45f3" /><Relationship Type="http://schemas.openxmlformats.org/officeDocument/2006/relationships/slide" Target="/ppt/slides/slide8.xml" Id="Rb6e3a270a3ab4c31" /><Relationship Type="http://schemas.openxmlformats.org/officeDocument/2006/relationships/slide" Target="/ppt/slides/slide9.xml" Id="R3f65b850c74c4ba0" /><Relationship Type="http://schemas.openxmlformats.org/officeDocument/2006/relationships/slide" Target="/ppt/slides/slide10.xml" Id="R02db9b1a30be4d7a" /><Relationship Type="http://schemas.openxmlformats.org/officeDocument/2006/relationships/slide" Target="/ppt/slides/slide11.xml" Id="R86226cc3988f40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94aa76d43c42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a391a7bdc14ddc" /><Relationship Type="http://schemas.openxmlformats.org/officeDocument/2006/relationships/notesMaster" Target="/ppt/notesMasters/notesMaster1.xml" Id="Rf5d77e0d860d47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b38429c48d4942" /><Relationship Type="http://schemas.openxmlformats.org/officeDocument/2006/relationships/notesMaster" Target="/ppt/notesMasters/notesMaster1.xml" Id="R060d67cbedaf4a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76275176e845cf" /><Relationship Type="http://schemas.openxmlformats.org/officeDocument/2006/relationships/notesMaster" Target="/ppt/notesMasters/notesMaster1.xml" Id="R4fa34f6e10c244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a36af23d2c4c4c" /><Relationship Type="http://schemas.openxmlformats.org/officeDocument/2006/relationships/notesMaster" Target="/ppt/notesMasters/notesMaster1.xml" Id="R289b7c67111543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5c7b1e158c41b4" /><Relationship Type="http://schemas.openxmlformats.org/officeDocument/2006/relationships/notesMaster" Target="/ppt/notesMasters/notesMaster1.xml" Id="R11d569c66d8241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ee4bd479e3446e" /><Relationship Type="http://schemas.openxmlformats.org/officeDocument/2006/relationships/notesMaster" Target="/ppt/notesMasters/notesMaster1.xml" Id="R7ba4e142f7b04c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1e24436a0b14ebe" /><Relationship Type="http://schemas.openxmlformats.org/officeDocument/2006/relationships/notesMaster" Target="/ppt/notesMasters/notesMaster1.xml" Id="R85781c57446a41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3dfa05edfe4853" /><Relationship Type="http://schemas.openxmlformats.org/officeDocument/2006/relationships/notesMaster" Target="/ppt/notesMasters/notesMaster1.xml" Id="R8f86c8be34314d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b53909a0884302" /><Relationship Type="http://schemas.openxmlformats.org/officeDocument/2006/relationships/notesMaster" Target="/ppt/notesMasters/notesMaster1.xml" Id="Rfa027a07dc6f4b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4702575d734620" /><Relationship Type="http://schemas.openxmlformats.org/officeDocument/2006/relationships/notesMaster" Target="/ppt/notesMasters/notesMaster1.xml" Id="R7eb2a55a655f47e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9a5a4fe6f8a42a9" /><Relationship Type="http://schemas.openxmlformats.org/officeDocument/2006/relationships/notesMaster" Target="/ppt/notesMasters/notesMaster1.xml" Id="R324d0be1c8ec4f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ExaThon India 2026 Track 04 submission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  <a:p xmlns:a="http://schemas.openxmlformats.org/drawingml/2006/main">
            <a:br/>
            <a:r>
              <a:t>Source for outage-cost context: Uptime Institute Global Data Center Survey 2024, p. 19. https://datacenter.uptimeinstitute.com/rs/711-RIA-145/images/2024.GlobalDataCenterSurvey.Report.pdf?version=0. This is broader outage context, not a measured OpsIntel or pipeline-specific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architecture; app/db.py; app/main.py; app/investigator.py; app/llm.py; frontend/src/App.jsx. Deterministic rules produce classifications and candidates. The optional OpenAI Responses API integration receives only bounded evidence and candidates, returns a structured narrative and evidence gaps, and is disabled by default. It cannot confirm a root cause or execute a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docs/images/dashboard-overview.png; frontend/src/App.jsx totalMissing calculation; sql/seed.sql. Missing rows total 20 + 0 + 200 + 1000 = 1,220 across four demo incidents.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app/db.py get_pipeline_trend; app/main.py analytics_trend; frontend/src/App.jsx. A live local Exasol query returned 2026-10-15, 5 runs, 4 incidents, 56.0% average completeness, and 16.0% average rolling failure rate. The frontend fetches /analytics/trend, whose handler calls get_pipeline_trend against OPSINTEL.PIPELINE_HEALTH_FEATURES.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reports/evaluation.md; scripts/benchmark_exasol.py; tests/run_evaluation.py; tests/test_llm.py. Benchmark: 1,000,000 imported synthetic run rows, 20 pipelines, 7 query repetitions, 473.209 ms median, 503.947 ms nearest-rank p95, 3.025 s import. Verification: 49 tests and 16/16 predefined synthetic cases. Local single-user result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 assess_root_causes and investigate_pipeline; app/llm.py; tests/run_evaluation.py; tests/test_llm.py. The unknown worker-exit case remains unclassified. The optional summary cannot change confirmed_root_cause, and model or network failure leaves the deterministic investigation available. No repair is executed.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evaluation/README.md; evaluation/holdout_template.csv; reports/impact-study-protocol.md; reports/evaluation.md; docs/deployment.md. Holdout, human impact, clean-clone, and independent LLM summary-quality results remain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c02833cb04481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a9a37b93b445b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2a209b633482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707ef6ed2e401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c54d31adf04d4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ee75aca7fa41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dddb3e428e47ab" /><Relationship Type="http://schemas.openxmlformats.org/officeDocument/2006/relationships/slideLayout" Target="/ppt/slideLayouts/slideLayout1.xml" Id="Rf2a262df81294182" /><Relationship Type="http://schemas.openxmlformats.org/officeDocument/2006/relationships/slideLayout" Target="/ppt/slideLayouts/slideLayout2.xml" Id="R3aada7718f704b9a" /><Relationship Type="http://schemas.openxmlformats.org/officeDocument/2006/relationships/slideLayout" Target="/ppt/slideLayouts/slideLayout3.xml" Id="R9b30ffe8166644a2" /><Relationship Type="http://schemas.openxmlformats.org/officeDocument/2006/relationships/slideLayout" Target="/ppt/slideLayouts/slideLayout4.xml" Id="R770e806e79184e06" /><Relationship Type="http://schemas.openxmlformats.org/officeDocument/2006/relationships/slideLayout" Target="/ppt/slideLayouts/slideLayout5.xml" Id="R425859d45263436d" /><Relationship Type="http://schemas.openxmlformats.org/officeDocument/2006/relationships/slideLayout" Target="/ppt/slideLayouts/slideLayout6.xml" Id="R90279c80380343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a262df81294182"/>
    <p:sldLayoutId xmlns:r="http://schemas.openxmlformats.org/officeDocument/2006/relationships" id="2147483650" r:id="R3aada7718f704b9a"/>
    <p:sldLayoutId xmlns:r="http://schemas.openxmlformats.org/officeDocument/2006/relationships" id="2147483651" r:id="R9b30ffe8166644a2"/>
    <p:sldLayoutId xmlns:r="http://schemas.openxmlformats.org/officeDocument/2006/relationships" id="2147483652" r:id="R770e806e79184e06"/>
    <p:sldLayoutId xmlns:r="http://schemas.openxmlformats.org/officeDocument/2006/relationships" id="2147483653" r:id="R425859d45263436d"/>
    <p:sldLayoutId xmlns:r="http://schemas.openxmlformats.org/officeDocument/2006/relationships" id="2147483654" r:id="R90279c80380343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2ab9e5a3e04f15" /><Relationship Type="http://schemas.openxmlformats.org/officeDocument/2006/relationships/notesSlide" Target="/ppt/notesSlides/notesSlide1.xml" Id="R8daef9ba9db047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d911a52e5a427e" /><Relationship Type="http://schemas.openxmlformats.org/officeDocument/2006/relationships/notesSlide" Target="/ppt/notesSlides/notesSlide2.xml" Id="Rc9d183fad3f249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3cd4225d694e6f" /><Relationship Type="http://schemas.openxmlformats.org/officeDocument/2006/relationships/notesSlide" Target="/ppt/notesSlides/notesSlide3.xml" Id="Rf88fe5d7d3744c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21442cbbf640de" /><Relationship Type="http://schemas.openxmlformats.org/officeDocument/2006/relationships/image" Target="/ppt/media/image.jpeg" Id="R17c2a32ab3794937" /><Relationship Type="http://schemas.openxmlformats.org/officeDocument/2006/relationships/notesSlide" Target="/ppt/notesSlides/notesSlide4.xml" Id="Ra4ecbfaef96740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b39e25834846c7" /><Relationship Type="http://schemas.openxmlformats.org/officeDocument/2006/relationships/image" Target="/ppt/media/image2.jpeg" Id="R48f472e4c02a48a0" /><Relationship Type="http://schemas.openxmlformats.org/officeDocument/2006/relationships/notesSlide" Target="/ppt/notesSlides/notesSlide5.xml" Id="R4203315b542b47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6f2343a37a40dc" /><Relationship Type="http://schemas.openxmlformats.org/officeDocument/2006/relationships/notesSlide" Target="/ppt/notesSlides/notesSlide6.xml" Id="R6d19610067fd4c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39ab45f9c7490f" /><Relationship Type="http://schemas.openxmlformats.org/officeDocument/2006/relationships/notesSlide" Target="/ppt/notesSlides/notesSlide7.xml" Id="R4ca99e02d3904c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74ebe4571a4909" /><Relationship Type="http://schemas.openxmlformats.org/officeDocument/2006/relationships/image" Target="/ppt/media/image.png" Id="R488213a2050549a2" /><Relationship Type="http://schemas.openxmlformats.org/officeDocument/2006/relationships/notesSlide" Target="/ppt/notesSlides/notesSlide8.xml" Id="Rd6076187836946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a447ede63c4d3d" /><Relationship Type="http://schemas.openxmlformats.org/officeDocument/2006/relationships/image" Target="/ppt/media/image3.jpeg" Id="Rfa81a21f02594d40" /><Relationship Type="http://schemas.openxmlformats.org/officeDocument/2006/relationships/notesSlide" Target="/ppt/notesSlides/notesSlide9.xml" Id="R9fcc51a36dea4c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5f5b6753114ce7" /><Relationship Type="http://schemas.openxmlformats.org/officeDocument/2006/relationships/notesSlide" Target="/ppt/notesSlides/notesSlide10.xml" Id="R49c35747b99e4a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85c8fec3c0444c" /><Relationship Type="http://schemas.openxmlformats.org/officeDocument/2006/relationships/notesSlide" Target="/ppt/notesSlides/notesSlide11.xml" Id="Rd67f3a3f127b45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Evidence-based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From failed overnight run to traceable next action - powered by Exasol Personal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3:07 a.m., the alert says failed. The evidence is scattered.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lives in separate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This run expected 100 rows but received 80. The engineer still searches separate run, count, and log views.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System abstains until a human verifies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504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54% of survey respondents reported a significant outage costing more than $100k (Uptime Institute, 2024). OpsIntel time saving remains unmeasured.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flows through Exasol, FastAPI, and the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Engineer verifies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confirms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Rules produce the category and candidates. The optional LLM only summarizes retrieved evidence. Confirmation and repairs stay human-controlled.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dashboard reads incident telemetry calculated in Exasol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AFDCB4-D601-4E01-B4DD-6D37C3EFF3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c2a32ab3794937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62312-5258-4D77-92FE-5A86C57A77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f472e4c02a48a0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failure vs last success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Failed: 80 / 100 rows (80%)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Last success: 100 / 100 (100%)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Change: -20 rows / -20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FAILED VS LAST SUCCESS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LIVE QUERY USED BY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VERIFIED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runs, 11 incidents,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API reads this view directly. Verified against Exasol Personal.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TEMPORAL DEPENDENCY CORRELATION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One upstream failure correlates with three downstream incidents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retains downstream failures within a 120-minute window. Temporal correlation only. Causation not confirmed.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Live result: customer_sync correlates with 3 later failed runs. Bulk import loads benchmark history; no UDF is implemented.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LOCAL SINGLE-USER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10M rows, DuckDB was 4.5× faster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QUERY CACHE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197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95300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REPETITIONS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21970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137 / 137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6 / 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licensed public corpus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 holdout: 27 / 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Same deterministic query, 7 runs per engine, Exasol query cache OFF. 1M medians: Exasol 437 ms, DuckDB 115 ms.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6AB33E-496E-498A-96A3-4E0E44CA56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8213a2050549a2"/>
          <a:stretch xmlns:a="http://schemas.openxmlformats.org/drawingml/2006/main"/>
        </p:blipFill>
        <p:spPr>
          <a:xfrm xmlns:a="http://schemas.openxmlformats.org/drawingml/2006/main">
            <a:off x="685800" y="2143125"/>
            <a:ext cx="6667500" cy="28575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25AB0-C7A7-4454-9CBE-DCC5215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F7B95"/>
                </a:solidFill>
                <a:latin typeface="Arial"/>
                <a:ea typeface="Arial"/>
                <a:cs typeface="Arial"/>
              </a:rPr>
              <a:t>Source figure (non-editable). 10M medians: Exasol 4902.269 ms; DuckDB 1080.358 ms.</a:t>
            </a:r>
          </a:p>
        </p:txBody>
      </p:sp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product is designed to abstain before it overclaims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38B943-2B1C-4DE1-AD09-EFBF8D5798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81a21f02594d40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Reserved for human 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INSUFFICIENT EVIDENCE EXAMPLE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Worker exited with code 71. No diagnostic details.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Result: unknown. The system says what to check next and cannot confirm a cause or run a repair.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status and next validation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PROVEN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Exasol-backed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Controlled 1M/10M comparison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137 automated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Clean clone: setup and checks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DEFINED, NOT COMPLETED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External holdout: 0 reviewer cases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Independent LLM quality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Impact study: 0/40 trials (0/4 people)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Exasol workflow in a clean environment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PRODUCTION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Airflow / dbt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Authentication and 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Concurrent workload 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Audited retention and 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Clean-clone checks passed. Exasol workflow, external review and participant trials remain pending.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Follow the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faster.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carefully.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Live demo: observed facts, candidate causes, human verification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2026-10-23T02:43:08.4700000Z</dcterms:created>
  <dcterms:modified xsi:type="dcterms:W3CDTF">2026-10-23T02:43:08.4710000Z</dcterms:modified>
</coreProperties>
</file>