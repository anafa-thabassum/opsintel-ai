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d5fbfc79334fac" /><Relationship Type="http://schemas.openxmlformats.org/officeDocument/2006/relationships/extended-properties" Target="/docProps/app.xml" Id="Re9c52addc5d24da4" /><Relationship Type="http://schemas.openxmlformats.org/officeDocument/2006/relationships/officeDocument" Target="/ppt/presentation.xml" Id="R7c3fe8de7b174f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0898385cc54c5c"/>
  </p:sldMasterIdLst>
  <p:notesMasterIdLst>
    <p:notesMasterId xmlns:r="http://schemas.openxmlformats.org/officeDocument/2006/relationships" r:id="Re85bb4967fd341bd"/>
  </p:notesMasterIdLst>
  <p:sldIdLst>
    <p:sldId xmlns:r="http://schemas.openxmlformats.org/officeDocument/2006/relationships" id="256" r:id="Reda3309b4ee342a1"/>
    <p:sldId xmlns:r="http://schemas.openxmlformats.org/officeDocument/2006/relationships" id="257" r:id="Ra69e5454205b4f03"/>
    <p:sldId xmlns:r="http://schemas.openxmlformats.org/officeDocument/2006/relationships" id="258" r:id="R86e9109cd3fd400f"/>
    <p:sldId xmlns:r="http://schemas.openxmlformats.org/officeDocument/2006/relationships" id="259" r:id="R4f360d3002d84cff"/>
    <p:sldId xmlns:r="http://schemas.openxmlformats.org/officeDocument/2006/relationships" id="260" r:id="R433cf33787074983"/>
    <p:sldId xmlns:r="http://schemas.openxmlformats.org/officeDocument/2006/relationships" id="261" r:id="R2ae6a6d899c441fa"/>
    <p:sldId xmlns:r="http://schemas.openxmlformats.org/officeDocument/2006/relationships" id="262" r:id="R18612bcd4a854d5a"/>
    <p:sldId xmlns:r="http://schemas.openxmlformats.org/officeDocument/2006/relationships" id="263" r:id="R037aa53c603d4434"/>
    <p:sldId xmlns:r="http://schemas.openxmlformats.org/officeDocument/2006/relationships" id="264" r:id="R3d78067e11144a60"/>
    <p:sldId xmlns:r="http://schemas.openxmlformats.org/officeDocument/2006/relationships" id="265" r:id="R0a9791e0b38d4434"/>
    <p:sldId xmlns:r="http://schemas.openxmlformats.org/officeDocument/2006/relationships" id="266" r:id="R195e5c72beb244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54eb7818024322" /><Relationship Type="http://schemas.openxmlformats.org/officeDocument/2006/relationships/slideMaster" Target="/ppt/slideMasters/slideMaster1.xml" Id="R8f0898385cc54c5c" /><Relationship Type="http://schemas.openxmlformats.org/officeDocument/2006/relationships/notesMaster" Target="/ppt/notesMasters/notesMaster1.xml" Id="Re85bb4967fd341bd" /><Relationship Type="http://schemas.openxmlformats.org/officeDocument/2006/relationships/presProps" Target="/ppt/presProps.xml" Id="R8bb73e4326474cd3" /><Relationship Type="http://schemas.openxmlformats.org/officeDocument/2006/relationships/tableStyles" Target="/ppt/tableStyles.xml" Id="R6cda5c1c04254552" /><Relationship Type="http://schemas.openxmlformats.org/officeDocument/2006/relationships/slide" Target="/ppt/slides/slide1.xml" Id="Reda3309b4ee342a1" /><Relationship Type="http://schemas.openxmlformats.org/officeDocument/2006/relationships/slide" Target="/ppt/slides/slide2.xml" Id="Ra69e5454205b4f03" /><Relationship Type="http://schemas.openxmlformats.org/officeDocument/2006/relationships/slide" Target="/ppt/slides/slide3.xml" Id="R86e9109cd3fd400f" /><Relationship Type="http://schemas.openxmlformats.org/officeDocument/2006/relationships/slide" Target="/ppt/slides/slide4.xml" Id="R4f360d3002d84cff" /><Relationship Type="http://schemas.openxmlformats.org/officeDocument/2006/relationships/slide" Target="/ppt/slides/slide5.xml" Id="R433cf33787074983" /><Relationship Type="http://schemas.openxmlformats.org/officeDocument/2006/relationships/slide" Target="/ppt/slides/slide6.xml" Id="R2ae6a6d899c441fa" /><Relationship Type="http://schemas.openxmlformats.org/officeDocument/2006/relationships/slide" Target="/ppt/slides/slide7.xml" Id="R18612bcd4a854d5a" /><Relationship Type="http://schemas.openxmlformats.org/officeDocument/2006/relationships/slide" Target="/ppt/slides/slide8.xml" Id="R037aa53c603d4434" /><Relationship Type="http://schemas.openxmlformats.org/officeDocument/2006/relationships/slide" Target="/ppt/slides/slide9.xml" Id="R3d78067e11144a60" /><Relationship Type="http://schemas.openxmlformats.org/officeDocument/2006/relationships/slide" Target="/ppt/slides/slide10.xml" Id="R0a9791e0b38d4434" /><Relationship Type="http://schemas.openxmlformats.org/officeDocument/2006/relationships/slide" Target="/ppt/slides/slide11.xml" Id="R195e5c72beb244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1d46fcefcc4d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d96ccab4ba4fbc" /><Relationship Type="http://schemas.openxmlformats.org/officeDocument/2006/relationships/notesMaster" Target="/ppt/notesMasters/notesMaster1.xml" Id="R5e0c0cd58fe041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b0f37c48d34e5a" /><Relationship Type="http://schemas.openxmlformats.org/officeDocument/2006/relationships/notesMaster" Target="/ppt/notesMasters/notesMaster1.xml" Id="Rde69d2ce3d3342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57fbdf44ef4c27" /><Relationship Type="http://schemas.openxmlformats.org/officeDocument/2006/relationships/notesMaster" Target="/ppt/notesMasters/notesMaster1.xml" Id="R57cc77f6b89344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6ffead04b346c5" /><Relationship Type="http://schemas.openxmlformats.org/officeDocument/2006/relationships/notesMaster" Target="/ppt/notesMasters/notesMaster1.xml" Id="Rcb2ce58f348c40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d436e8f0894a2a" /><Relationship Type="http://schemas.openxmlformats.org/officeDocument/2006/relationships/notesMaster" Target="/ppt/notesMasters/notesMaster1.xml" Id="Recebd77e2bee44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8ed4a73ed048fb" /><Relationship Type="http://schemas.openxmlformats.org/officeDocument/2006/relationships/notesMaster" Target="/ppt/notesMasters/notesMaster1.xml" Id="R2eb829bb2b9447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90b3fd46b247a4" /><Relationship Type="http://schemas.openxmlformats.org/officeDocument/2006/relationships/notesMaster" Target="/ppt/notesMasters/notesMaster1.xml" Id="R1f77d57cd1ca49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9a49c98a8c4698" /><Relationship Type="http://schemas.openxmlformats.org/officeDocument/2006/relationships/notesMaster" Target="/ppt/notesMasters/notesMaster1.xml" Id="R9a9eefad0b3a43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605c8e34a34080" /><Relationship Type="http://schemas.openxmlformats.org/officeDocument/2006/relationships/notesMaster" Target="/ppt/notesMasters/notesMaster1.xml" Id="R4046f9803be644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57a4ae4ae424705" /><Relationship Type="http://schemas.openxmlformats.org/officeDocument/2006/relationships/notesMaster" Target="/ppt/notesMasters/notesMaster1.xml" Id="R917eda9b4ab144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fed8f2ab1bc400c" /><Relationship Type="http://schemas.openxmlformats.org/officeDocument/2006/relationships/notesMaster" Target="/ppt/notesMasters/notesMaster1.xml" Id="R52d95ea4f88447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reports/final-priorities-2026-10-31.md. Product description reflects investigation and reviewer-governed memory; it does not claim pipeline repair or measured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  <a:p xmlns:a="http://schemas.openxmlformats.org/drawingml/2006/main">
            <a:br/>
            <a:r>
              <a:t>Source for outage-cost context: Uptime Institute Global Data Center Survey 2024, p. 19. https://datacenter.uptimeinstitute.com/rs/711-RIA-145/images/2024.GlobalDataCenterSurvey.Report.pdf?version=0. This is broader outage context, not a measured OpsIntel or pipeline-specific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app/investigator.py; app/main.py; app/memory.py; docs/verified-incident-memory.md. Deterministic classification remains primary. Optional LLM narrative cannot confirm causes. Memory approval requires a separate reviewer and evidence checklist. No automatic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synthetic Exasol demo schema and dashboard. Values are generated demo telemetry, not production. Exasol was unavailable during the final 2026-10-31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reports/exasol-benchmark.json; reports/evaluation.md. Analytical features use Exasol SQL. Reported query is historical local output; no live database was available in the final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sql/analysis/dependency_cascades.sql; reports/evaluation.md. CONNECT BY reports time correlation within 120 minutes. It does not establish causality. Candidate retrieval similarity is scored in the application; there is no memory UDF.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reports/database-comparison.json; reports/evaluation.md; reports/public-data-evaluation.md; reports/independent-holdout-v1.md; reports/classifier-improvement-report-v1.md. The 197 test count matches the current local verification run. Public 7/10 labels are project-authored, not independent ground truth. The 15/19 result is a comparison against the same historical reviewer set whose original baseline was 4/19; it is not a new independent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app/memory.py; reports/classifier-design-addendum-v1.md; docs/verified-incident-memory.md. Reviewer and class-specific checklist policy is approved as design but not empirically validated. No actual human confirmation was performed for this deck revision.</a:t>
            </a:r>
          </a:p>
          <a:p xmlns:a="http://schemas.openxmlformats.org/drawingml/2006/main">
            <a:r>
              <a:t>Concept reference: user-provided OpsIntel_Verified_Incident_Memory.pdf, pp. 1–4. The learning-curve graphic and target figures in that proposal are illustrative, not measured OpsIntel results. Matching is computed in FastAPI after Exasol filters active records.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reports/independent-holdout-v1.md; reports/classifier-improvement-report-v1.md; reports/public-data-evaluation.md; reports/business-impact-study.md; docs/verified-incident-memory.md. The 15/19 result reuses the original 19-case holdout and is not an independent evaluation. Public-data labels are project-assigned. No participant trial or new memory confirmation is claimed. Exasol was unavailable during the current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https://github.com/Anafa-thabassum/opsintel-ai. Existing video is an older 154.445-second recording and does not demonstrate verified memory. No new recording was made in this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bced932714dd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660f06713745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b7d1f34b5543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63a76bb90a40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bb1977b75b460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60c6e306a748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5b8cc6ebd04604" /><Relationship Type="http://schemas.openxmlformats.org/officeDocument/2006/relationships/slideLayout" Target="/ppt/slideLayouts/slideLayout1.xml" Id="Rb0e594a4014c482b" /><Relationship Type="http://schemas.openxmlformats.org/officeDocument/2006/relationships/slideLayout" Target="/ppt/slideLayouts/slideLayout2.xml" Id="Rd68db5273d434482" /><Relationship Type="http://schemas.openxmlformats.org/officeDocument/2006/relationships/slideLayout" Target="/ppt/slideLayouts/slideLayout3.xml" Id="R0f04f5b10db843d2" /><Relationship Type="http://schemas.openxmlformats.org/officeDocument/2006/relationships/slideLayout" Target="/ppt/slideLayouts/slideLayout4.xml" Id="R2e1fc1b478794eee" /><Relationship Type="http://schemas.openxmlformats.org/officeDocument/2006/relationships/slideLayout" Target="/ppt/slideLayouts/slideLayout5.xml" Id="Rbe16b71f730e4d43" /><Relationship Type="http://schemas.openxmlformats.org/officeDocument/2006/relationships/slideLayout" Target="/ppt/slideLayouts/slideLayout6.xml" Id="R591ca010d1344f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e594a4014c482b"/>
    <p:sldLayoutId xmlns:r="http://schemas.openxmlformats.org/officeDocument/2006/relationships" id="2147483650" r:id="Rd68db5273d434482"/>
    <p:sldLayoutId xmlns:r="http://schemas.openxmlformats.org/officeDocument/2006/relationships" id="2147483651" r:id="R0f04f5b10db843d2"/>
    <p:sldLayoutId xmlns:r="http://schemas.openxmlformats.org/officeDocument/2006/relationships" id="2147483652" r:id="R2e1fc1b478794eee"/>
    <p:sldLayoutId xmlns:r="http://schemas.openxmlformats.org/officeDocument/2006/relationships" id="2147483653" r:id="Rbe16b71f730e4d43"/>
    <p:sldLayoutId xmlns:r="http://schemas.openxmlformats.org/officeDocument/2006/relationships" id="2147483654" r:id="R591ca010d1344f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a7ade40c46430e" /><Relationship Type="http://schemas.openxmlformats.org/officeDocument/2006/relationships/notesSlide" Target="/ppt/notesSlides/notesSlide1.xml" Id="R9f0f5bfce30649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34d51a753e4d55" /><Relationship Type="http://schemas.openxmlformats.org/officeDocument/2006/relationships/notesSlide" Target="/ppt/notesSlides/notesSlide2.xml" Id="R0a843ddd52b04b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aeba0b6b4e4e7d" /><Relationship Type="http://schemas.openxmlformats.org/officeDocument/2006/relationships/notesSlide" Target="/ppt/notesSlides/notesSlide3.xml" Id="R7055a479382949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9c528ee7c34224" /><Relationship Type="http://schemas.openxmlformats.org/officeDocument/2006/relationships/image" Target="/ppt/media/image.jpeg" Id="R2a3d206750074b71" /><Relationship Type="http://schemas.openxmlformats.org/officeDocument/2006/relationships/notesSlide" Target="/ppt/notesSlides/notesSlide4.xml" Id="Re0cbe698f1bc45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ea6384b4584df2" /><Relationship Type="http://schemas.openxmlformats.org/officeDocument/2006/relationships/image" Target="/ppt/media/image2.jpeg" Id="R04433ff14cb44059" /><Relationship Type="http://schemas.openxmlformats.org/officeDocument/2006/relationships/notesSlide" Target="/ppt/notesSlides/notesSlide5.xml" Id="Ref422c2fc1ca46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bc826de5084716" /><Relationship Type="http://schemas.openxmlformats.org/officeDocument/2006/relationships/notesSlide" Target="/ppt/notesSlides/notesSlide6.xml" Id="Rf1dafd9b135a41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5a843ce4c44ce5" /><Relationship Type="http://schemas.openxmlformats.org/officeDocument/2006/relationships/notesSlide" Target="/ppt/notesSlides/notesSlide7.xml" Id="R8739acc9fa2841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6eab23c44e488f" /><Relationship Type="http://schemas.openxmlformats.org/officeDocument/2006/relationships/image" Target="/ppt/media/image.png" Id="R294ef75ab9354dc9" /><Relationship Type="http://schemas.openxmlformats.org/officeDocument/2006/relationships/notesSlide" Target="/ppt/notesSlides/notesSlide8.xml" Id="R9cf1737c4c0a4ab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18b746d0304b0b" /><Relationship Type="http://schemas.openxmlformats.org/officeDocument/2006/relationships/image" Target="/ppt/media/image3.jpeg" Id="Re331be07709941bb" /><Relationship Type="http://schemas.openxmlformats.org/officeDocument/2006/relationships/notesSlide" Target="/ppt/notesSlides/notesSlide9.xml" Id="Ra6fe214645d54d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6c9d342707401b" /><Relationship Type="http://schemas.openxmlformats.org/officeDocument/2006/relationships/notesSlide" Target="/ppt/notesSlides/notesSlide10.xml" Id="R8b03b314a630457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e030f2afcd48dd" /><Relationship Type="http://schemas.openxmlformats.org/officeDocument/2006/relationships/notesSlide" Target="/ppt/notesSlides/notesSlide11.xml" Id="R8bc01b39dc954c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Evidence-first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Investigate incidents with traceable evidence and reviewer-governed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+ public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On-call engineers piece together pipeline incidents from scattered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Run status, counts, and logs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 failed run reports 80 of 100 expected rows. The engineer must connect run history, counts, and logs before choosing the next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Cause stays unconfirmed until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54% of survey respondents reported a significant outage costing more than $100k (Uptime Institute, 2024). OpsIntel time saving remains unmeasured.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evidence becomes a reviewable investigation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Investigator submits;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reviewer decides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deterministic classifier proposes symptoms and candidates. An optional LLM only summarizes retrieved evidence. A separate authorized reviewer checks criteria and evidence before Exasol stores a confirmation. No repair runs automatically.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DASHBOARD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dashboard view · synthetic demo telemetry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85781D-2BD2-436F-B624-89F83A3441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d206750074b71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90D3A-653F-4A37-8410-0A0832BB68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433ff14cb44059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LIVE QUERY USED BY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VERIFIED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runs, 11 incidents,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Recorded Exasol Personal output for the synthetic demo schema; it is not a live service check from this run.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TEMPORAL DEPENDENCY CORRELATION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CONNECT BY surfaces time-correlated downstream failures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retains downstream failures within a 120-minute window. Temporal correlation only. Causation not confirmed.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Recorded result: customer_sync is associated with 3 later failed runs in a 120-minute window. Bulk import loads benchmark history; matching is not an Exasol UDF.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LOCAL SINGLE-USER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10M rows, DuckDB was 4.5× faster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QUERY CACHE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197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9530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REPETITIONS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21970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 labels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synthetic: 27/27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Recorded local benchmark only. Same query, 7 runs per engine, cache off. At 10M rows DuckDB was 4.5× faster in this run.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06D308-F2D7-4240-BFCB-1A33DD2568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ef75ab9354dc9"/>
          <a:stretch xmlns:a="http://schemas.openxmlformats.org/drawingml/2006/main"/>
        </p:blipFill>
        <p:spPr>
          <a:xfrm xmlns:a="http://schemas.openxmlformats.org/drawingml/2006/main">
            <a:off x="685800" y="2143125"/>
            <a:ext cx="6667500" cy="2857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25AB0-C7A7-4454-9CBE-DCC5215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F7B95"/>
                </a:solidFill>
                <a:latin typeface="Arial"/>
                <a:ea typeface="Arial"/>
                <a:cs typeface="Arial"/>
              </a:rPr>
              <a:t>Source figure (non-editable). 10M medians: Exasol 4902.269 ms; DuckDB 1080.358 ms.</a:t>
            </a:r>
          </a:p>
        </p:txBody>
      </p:sp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Verified memory requires a separate reviewer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6C83CE-358C-446C-B625-8161B64269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1be07709941bb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Authorized reviewer + evidence checklist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Investigator submits cited evidence. A separate reviewer checks criteria and conflicts. Exasol stores approval and audit history; FastAPI returns future matches as candidates only.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Measured evidence and remaining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RECORDED IN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Exasol queries, schema, and migration documented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Local 1M/10M benchmark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200 automated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App routes inspected locally; Exasol unavailable today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NOT INDEPENDENT 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Historical reviewer set: 4/19 baseline; 15/19 comparison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Same 19 cases; not a new independent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Public corpus: 7/10 project labels; 0 outside adjudicators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Human impact study: 0 participants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NEXT VALIDATION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Rehearse reviewer confirmation on authorized Exasol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Obtain fresh independent labels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Measure engineer investigation outcomes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Record a new walkthrough without simulated actions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Exasol was unavailable for this run. No new memory confirmation, independent labels, user study, or new video is claimed.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with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causes reviewable.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only after review.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Demo status: current video is historical and does not show verified memory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2026-10-31T06:22:39.5200000Z</dcterms:created>
  <dcterms:modified xsi:type="dcterms:W3CDTF">2026-10-31T06:22:39.5200000Z</dcterms:modified>
</coreProperties>
</file>