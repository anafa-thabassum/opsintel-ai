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b4a6235a3421e" /><Relationship Type="http://schemas.openxmlformats.org/officeDocument/2006/relationships/extended-properties" Target="/docProps/app.xml" Id="R1c40f807b1c34d97" /><Relationship Type="http://schemas.openxmlformats.org/officeDocument/2006/relationships/officeDocument" Target="/ppt/presentation.xml" Id="Rf39673cc88894c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ebd297aeb441f"/>
  </p:sldMasterIdLst>
  <p:notesMasterIdLst>
    <p:notesMasterId xmlns:r="http://schemas.openxmlformats.org/officeDocument/2006/relationships" r:id="R9c70cd565e484b3b"/>
  </p:notesMasterIdLst>
  <p:sldIdLst>
    <p:sldId xmlns:r="http://schemas.openxmlformats.org/officeDocument/2006/relationships" id="256" r:id="R7d36aca5d8334330"/>
    <p:sldId xmlns:r="http://schemas.openxmlformats.org/officeDocument/2006/relationships" id="257" r:id="Rf16b453ca3a94197"/>
    <p:sldId xmlns:r="http://schemas.openxmlformats.org/officeDocument/2006/relationships" id="258" r:id="R9d7e87fc9231444f"/>
    <p:sldId xmlns:r="http://schemas.openxmlformats.org/officeDocument/2006/relationships" id="259" r:id="Rddbddd27adb84bf9"/>
    <p:sldId xmlns:r="http://schemas.openxmlformats.org/officeDocument/2006/relationships" id="260" r:id="Rb285c702727d4deb"/>
    <p:sldId xmlns:r="http://schemas.openxmlformats.org/officeDocument/2006/relationships" id="261" r:id="Rfa176320faf647bd"/>
    <p:sldId xmlns:r="http://schemas.openxmlformats.org/officeDocument/2006/relationships" id="262" r:id="R7961aabb00d64bd9"/>
    <p:sldId xmlns:r="http://schemas.openxmlformats.org/officeDocument/2006/relationships" id="263" r:id="R3488612cb7f041bb"/>
    <p:sldId xmlns:r="http://schemas.openxmlformats.org/officeDocument/2006/relationships" id="264" r:id="R19daee06c75e444c"/>
    <p:sldId xmlns:r="http://schemas.openxmlformats.org/officeDocument/2006/relationships" id="265" r:id="R0ddafb07b86c4559"/>
    <p:sldId xmlns:r="http://schemas.openxmlformats.org/officeDocument/2006/relationships" id="266" r:id="Rccdb794e2c6140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155c974fe24141" /><Relationship Type="http://schemas.openxmlformats.org/officeDocument/2006/relationships/slideMaster" Target="/ppt/slideMasters/slideMaster1.xml" Id="R575ebd297aeb441f" /><Relationship Type="http://schemas.openxmlformats.org/officeDocument/2006/relationships/notesMaster" Target="/ppt/notesMasters/notesMaster1.xml" Id="R9c70cd565e484b3b" /><Relationship Type="http://schemas.openxmlformats.org/officeDocument/2006/relationships/presProps" Target="/ppt/presProps.xml" Id="R781e2d90efa34acc" /><Relationship Type="http://schemas.openxmlformats.org/officeDocument/2006/relationships/tableStyles" Target="/ppt/tableStyles.xml" Id="R4f5db0426ab34898" /><Relationship Type="http://schemas.openxmlformats.org/officeDocument/2006/relationships/slide" Target="/ppt/slides/slide1.xml" Id="R7d36aca5d8334330" /><Relationship Type="http://schemas.openxmlformats.org/officeDocument/2006/relationships/slide" Target="/ppt/slides/slide2.xml" Id="Rf16b453ca3a94197" /><Relationship Type="http://schemas.openxmlformats.org/officeDocument/2006/relationships/slide" Target="/ppt/slides/slide3.xml" Id="R9d7e87fc9231444f" /><Relationship Type="http://schemas.openxmlformats.org/officeDocument/2006/relationships/slide" Target="/ppt/slides/slide4.xml" Id="Rddbddd27adb84bf9" /><Relationship Type="http://schemas.openxmlformats.org/officeDocument/2006/relationships/slide" Target="/ppt/slides/slide5.xml" Id="Rb285c702727d4deb" /><Relationship Type="http://schemas.openxmlformats.org/officeDocument/2006/relationships/slide" Target="/ppt/slides/slide6.xml" Id="Rfa176320faf647bd" /><Relationship Type="http://schemas.openxmlformats.org/officeDocument/2006/relationships/slide" Target="/ppt/slides/slide7.xml" Id="R7961aabb00d64bd9" /><Relationship Type="http://schemas.openxmlformats.org/officeDocument/2006/relationships/slide" Target="/ppt/slides/slide8.xml" Id="R3488612cb7f041bb" /><Relationship Type="http://schemas.openxmlformats.org/officeDocument/2006/relationships/slide" Target="/ppt/slides/slide9.xml" Id="R19daee06c75e444c" /><Relationship Type="http://schemas.openxmlformats.org/officeDocument/2006/relationships/slide" Target="/ppt/slides/slide10.xml" Id="R0ddafb07b86c4559" /><Relationship Type="http://schemas.openxmlformats.org/officeDocument/2006/relationships/slide" Target="/ppt/slides/slide11.xml" Id="Rccdb794e2c6140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84f2ae1a48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6de1fb46314dbe" /><Relationship Type="http://schemas.openxmlformats.org/officeDocument/2006/relationships/notesMaster" Target="/ppt/notesMasters/notesMaster1.xml" Id="Ra0956e5500ab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7611df2b364617" /><Relationship Type="http://schemas.openxmlformats.org/officeDocument/2006/relationships/notesMaster" Target="/ppt/notesMasters/notesMaster1.xml" Id="R13bbfbd79438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ad8ffb3b384300" /><Relationship Type="http://schemas.openxmlformats.org/officeDocument/2006/relationships/notesMaster" Target="/ppt/notesMasters/notesMaster1.xml" Id="Rb297721663004f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d5461075f4b16" /><Relationship Type="http://schemas.openxmlformats.org/officeDocument/2006/relationships/notesMaster" Target="/ppt/notesMasters/notesMaster1.xml" Id="R566a2f738ba042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d5d295516411d" /><Relationship Type="http://schemas.openxmlformats.org/officeDocument/2006/relationships/notesMaster" Target="/ppt/notesMasters/notesMaster1.xml" Id="R9365bef687da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a50688bebd43c5" /><Relationship Type="http://schemas.openxmlformats.org/officeDocument/2006/relationships/notesMaster" Target="/ppt/notesMasters/notesMaster1.xml" Id="R76df63651359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ed49e749f842d3" /><Relationship Type="http://schemas.openxmlformats.org/officeDocument/2006/relationships/notesMaster" Target="/ppt/notesMasters/notesMaster1.xml" Id="R493b33c550c0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c840cfe59f430b" /><Relationship Type="http://schemas.openxmlformats.org/officeDocument/2006/relationships/notesMaster" Target="/ppt/notesMasters/notesMaster1.xml" Id="R70351b26f2f746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d5980d151c4473" /><Relationship Type="http://schemas.openxmlformats.org/officeDocument/2006/relationships/notesMaster" Target="/ppt/notesMasters/notesMaster1.xml" Id="R8fe850c30b874f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e8ce86013b49c1" /><Relationship Type="http://schemas.openxmlformats.org/officeDocument/2006/relationships/notesMaster" Target="/ppt/notesMasters/notesMaster1.xml" Id="R4193dc3fc615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50004d9cb246a6" /><Relationship Type="http://schemas.openxmlformats.org/officeDocument/2006/relationships/notesMaster" Target="/ppt/notesMasters/notesMaster1.xml" Id="R8cabc87665ef48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ExaThon India 2026 Track 04 submission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problem statement; app/db.py incident retrieval; reports/impact-study-protocol.md. The comparison states an expected benefit only. No measured time saving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architecture; app/db.py; app/main.py; app/investigator.py; app/llm.py; frontend/src/App.jsx. Deterministic rules produce classifications and candidates. The optional OpenAI Responses API integration receives only bounded evidence and candidates, returns a structured narrative and evidence gaps, and is disabled by default. It cannot confirm a root cause or execute a repair.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docs/images/dashboard-overview.png; frontend/src/App.jsx totalMissing calculation; sql/seed.sql. Missing rows total 20 + 0 + 200 + 1000 = 1,220 across four demo incidents.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sql/seed.sql; app/investigator.py; docs/images/investigation-evidence.png. Run 1 has expected 100, actual 80, three logs, five observations, two candidates, low confidence, and confirmed_root_cause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sql/analysis/pipeline_health_features.sql; app/db.py get_pipeline_trend; app/main.py analytics_trend; frontend/src/App.jsx. A live local Exasol query returned 2026-10-15, 5 runs, 4 incidents, 56.0% average completeness, and 16.0% average rolling failure rate. The frontend fetches /analytics/trend, whose handler calls get_pipeline_trend against OPSINTEL.PIPELINE_HEALTH_FEATURES.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reports/exasol-benchmark.json; reports/evaluation.md; scripts/benchmark_exasol.py; tests/run_evaluation.py; tests/test_llm.py. Benchmark: 1,000,000 imported synthetic run rows, 20 pipelines, 7 query repetitions, 473.209 ms median, 503.947 ms nearest-rank p95, 3.025 s import. Verification: 49 tests and 16/16 predefined synthetic cases. Local single-user result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app/investigator.py assess_root_causes and investigate_pipeline; app/llm.py; tests/run_evaluation.py; tests/test_llm.py. The unknown worker-exit case remains unclassified. The optional summary cannot change confirmed_root_cause, and model or network failure leaves the deterministic investigation available. No repair is executed.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evaluation/README.md; evaluation/holdout_template.csv; reports/impact-study-protocol.md; reports/evaluation.md; docs/deployment.md. Holdout, human impact, clean-clone, and independent LLM summary-quality results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https://github.com/Anafa-thabassum/opsintel-ai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b6749f0ec46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a592b22ff42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25f44ab5c43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a61e75fa247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acd2fb02642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07f97f0de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6CF710-73BE-46C8-A783-4AE8465CC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511E79-67BE-4B39-921F-CA584CB02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51C868-2389-4E81-A171-814ACC983C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F8F76E-566D-485C-8744-F88233704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A30BB6-1341-4A8A-BB61-5B907DE86B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B0EBF7-2527-43B2-BDB7-2F23A317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B0A86-8630-4267-94D6-32D8CD3823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7B2797-7FF4-4A5C-BF1A-0CCD8F0B20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60F11-E4B9-4499-9D8B-1CE036C3D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A710B8-D5E1-4935-B83A-EABD98D91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550e6e14f54cc1" /><Relationship Type="http://schemas.openxmlformats.org/officeDocument/2006/relationships/slideLayout" Target="/ppt/slideLayouts/slideLayout1.xml" Id="R973bccf60cda493a" /><Relationship Type="http://schemas.openxmlformats.org/officeDocument/2006/relationships/slideLayout" Target="/ppt/slideLayouts/slideLayout2.xml" Id="R3f2fdd08c529411e" /><Relationship Type="http://schemas.openxmlformats.org/officeDocument/2006/relationships/slideLayout" Target="/ppt/slideLayouts/slideLayout3.xml" Id="R8a983c900a164190" /><Relationship Type="http://schemas.openxmlformats.org/officeDocument/2006/relationships/slideLayout" Target="/ppt/slideLayouts/slideLayout4.xml" Id="R18a97f69ce5441c8" /><Relationship Type="http://schemas.openxmlformats.org/officeDocument/2006/relationships/slideLayout" Target="/ppt/slideLayouts/slideLayout5.xml" Id="R0fc99665854c4ce5" /><Relationship Type="http://schemas.openxmlformats.org/officeDocument/2006/relationships/slideLayout" Target="/ppt/slideLayouts/slideLayout6.xml" Id="Reae25f3096b342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bccf60cda493a"/>
    <p:sldLayoutId xmlns:r="http://schemas.openxmlformats.org/officeDocument/2006/relationships" id="2147483650" r:id="R3f2fdd08c529411e"/>
    <p:sldLayoutId xmlns:r="http://schemas.openxmlformats.org/officeDocument/2006/relationships" id="2147483651" r:id="R8a983c900a164190"/>
    <p:sldLayoutId xmlns:r="http://schemas.openxmlformats.org/officeDocument/2006/relationships" id="2147483652" r:id="R18a97f69ce5441c8"/>
    <p:sldLayoutId xmlns:r="http://schemas.openxmlformats.org/officeDocument/2006/relationships" id="2147483653" r:id="R0fc99665854c4ce5"/>
    <p:sldLayoutId xmlns:r="http://schemas.openxmlformats.org/officeDocument/2006/relationships" id="2147483654" r:id="Reae25f3096b342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7262b6ac14d8f" /><Relationship Type="http://schemas.openxmlformats.org/officeDocument/2006/relationships/notesSlide" Target="/ppt/notesSlides/notesSlide1.xml" Id="Re39986c2440f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55c1ae9534b75" /><Relationship Type="http://schemas.openxmlformats.org/officeDocument/2006/relationships/notesSlide" Target="/ppt/notesSlides/notesSlide2.xml" Id="R28e68361016443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b0d3186af4e60" /><Relationship Type="http://schemas.openxmlformats.org/officeDocument/2006/relationships/notesSlide" Target="/ppt/notesSlides/notesSlide3.xml" Id="R825b92cf0c88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da4abaa8744e7" /><Relationship Type="http://schemas.openxmlformats.org/officeDocument/2006/relationships/image" Target="/ppt/media/image.jpeg" Id="R01afcf60a5ee422e" /><Relationship Type="http://schemas.openxmlformats.org/officeDocument/2006/relationships/notesSlide" Target="/ppt/notesSlides/notesSlide4.xml" Id="Rf9714561b2af49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2e32f14a04178" /><Relationship Type="http://schemas.openxmlformats.org/officeDocument/2006/relationships/image" Target="/ppt/media/image2.jpeg" Id="Rc0aa3e1413554bbe" /><Relationship Type="http://schemas.openxmlformats.org/officeDocument/2006/relationships/notesSlide" Target="/ppt/notesSlides/notesSlide5.xml" Id="R3d63ca572199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1269b4dc141ef" /><Relationship Type="http://schemas.openxmlformats.org/officeDocument/2006/relationships/notesSlide" Target="/ppt/notesSlides/notesSlide6.xml" Id="R5b0236ac0075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31589eee534ec0" /><Relationship Type="http://schemas.openxmlformats.org/officeDocument/2006/relationships/notesSlide" Target="/ppt/notesSlides/notesSlide7.xml" Id="Ra71541e0b01e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0d76527ee4a5b" /><Relationship Type="http://schemas.openxmlformats.org/officeDocument/2006/relationships/chart" Target="/ppt/slides/charts/chart1.xml" Id="Rca6c4f60efe040c4" /><Relationship Type="http://schemas.openxmlformats.org/officeDocument/2006/relationships/notesSlide" Target="/ppt/notesSlides/notesSlide8.xml" Id="R98fd7f22a627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7fda29c5e4d9d" /><Relationship Type="http://schemas.openxmlformats.org/officeDocument/2006/relationships/image" Target="/ppt/media/image3.jpeg" Id="R4800270d28914bcc" /><Relationship Type="http://schemas.openxmlformats.org/officeDocument/2006/relationships/notesSlide" Target="/ppt/notesSlides/notesSlide9.xml" Id="R66d35094e33d43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4b9832b1ae4e43" /><Relationship Type="http://schemas.openxmlformats.org/officeDocument/2006/relationships/notesSlide" Target="/ppt/notesSlides/notesSlide10.xml" Id="R96736476d7e445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e589946be4469" /><Relationship Type="http://schemas.openxmlformats.org/officeDocument/2006/relationships/notesSlide" Target="/ppt/notesSlides/notesSlide11.xml" Id="Rb01eb13097eb4f5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Query latency</c:v>
          </c:tx>
          <c:spPr>
            <a:solidFill xmlns:a="http://schemas.openxmlformats.org/drawingml/2006/main">
              <a:srgbClr val="9B8CFF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Run 1</c:v>
                </c:pt>
                <c:pt idx="1">
                  <c:v>Run 2</c:v>
                </c:pt>
                <c:pt idx="2">
                  <c:v>Run 3</c:v>
                </c:pt>
                <c:pt idx="3">
                  <c:v>Run 4</c:v>
                </c:pt>
                <c:pt idx="4">
                  <c:v>Run 5</c:v>
                </c:pt>
                <c:pt idx="5">
                  <c:v>Run 6</c:v>
                </c:pt>
                <c:pt idx="6">
                  <c:v>Run 7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503.947</c:v>
                </c:pt>
                <c:pt idx="1">
                  <c:v>473.209</c:v>
                </c:pt>
                <c:pt idx="2">
                  <c:v>474.484</c:v>
                </c:pt>
                <c:pt idx="3">
                  <c:v>445.887</c:v>
                </c:pt>
                <c:pt idx="4">
                  <c:v>442.384</c:v>
                </c:pt>
                <c:pt idx="5">
                  <c:v>469.597</c:v>
                </c:pt>
                <c:pt idx="6">
                  <c:v>476.749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D7DEE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9AA5BD"/>
                    </a:solidFill>
                  </a:rPr>
                  <a:t>Query repetition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9AA5B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1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AA5B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314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9AA5BD"/>
                    </a:solidFill>
                  </a:rPr>
                  <a:t>Milliseconds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9AA5B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441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AA5BD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090C14"/>
        </a:solidFill>
        <a:ln xmlns:a="http://schemas.openxmlformats.org/drawingml/2006/main" w="0">
          <a:solidFill>
            <a:srgbClr val="090C14"/>
          </a:solidFill>
          <a:prstDash val="solid"/>
        </a:ln>
      </c:spPr>
    </c:plotArea>
    <c:plotVisOnly val="1"/>
  </c:chart>
  <c:spPr>
    <a:solidFill xmlns:a="http://schemas.openxmlformats.org/drawingml/2006/main">
      <a:srgbClr val="090C14"/>
    </a:solidFill>
    <a:ln xmlns:a="http://schemas.openxmlformats.org/drawingml/2006/main" w="0">
      <a:solidFill>
        <a:srgbClr val="090C14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A3E9-1123-4B20-A1C2-1913688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FF90-634C-476A-B16B-05AA0962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F48B-8EFF-4837-AC6D-BBF53BF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81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Evidence-based pipeline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40742-1FED-4E5E-B585-63E5F2C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From failed overnight run to traceable next action - powered by Exasol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C4821-30BA-4FE6-A808-88E54EC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4981-4EED-49A7-99EB-A3D0EF67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EXATHON INDIA 2026  /  TRACK 04: THE WORK BEHIND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1F51-4AA0-4BF4-A7D4-54FF6250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7280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2809A"/>
                </a:solidFill>
                <a:latin typeface="Arial"/>
                <a:ea typeface="Arial"/>
                <a:cs typeface="Arial"/>
              </a:rPr>
              <a:t>Public prototype  •  MIT licensed  •  Synthetic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06ADB-ABC7-45AD-96F6-950DF782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8794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4F7ED-6DBB-4066-BA46-6F5E0BF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DBFC1-BD17-4073-8092-EC152CD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failure is visible. The explanation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EBA27-C86C-4EC4-A143-5168602A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D0C7-ACD8-4746-9F0B-B2449BE5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 lives in separate 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86D73-F221-4F04-AB3F-A766E1D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The engineer finds the run, compares row counts, searches logs, and decides what to inspect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187B0-D155-41CA-8AC0-FD553D4B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5265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2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39F91-66BC-42F8-B2C3-5635DEC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OPSINTEL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E2A72-7377-42C8-B2D2-2C4577E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663C-24F4-4990-A5E8-0560720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Select the failed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E6B8-DC53-43D5-9F53-E095127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DD6DF-F2D6-4215-B7A0-3C2B892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Review cited status, counts, and 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79137-8B3E-439F-9B14-3041FE6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85CDD-4C08-4852-8297-A3010A2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Compare candidate explanations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0BA77-D1DF-4D1B-A08B-5914001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48D68-B8CC-41E1-BE75-907A33B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00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verifies before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FD6CB-1F51-49B8-9E13-6D5C3DF0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43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Expected benefit: fewer context switches. The impact study will measure time and evidence selection.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5393B-0FC6-4B32-97C1-565CF44F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00BB5-2023-4241-8458-E456F36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0FF8D9-2F8B-46F6-B033-072F126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592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27D2A-353E-4DDD-8DB3-6440D54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PRODUCT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1E24E-A6A9-40B6-A446-0CBD3FE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Operational evidence flows through Exasol, FastAPI, and the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920A-451B-4BAE-8CC7-A24854C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C992-BB64-41FA-AB72-0F4A77A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D9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589F7-C5CA-45A4-8B26-777F9324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Pipeline runs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logs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53D03-5DBA-4005-8020-26CD7EE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3BAC-7157-4C36-A61D-60F550F5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F1F1B-EE0D-44CF-8985-F9C684DC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75E5C-D1B3-4224-B852-4823ABE1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SQL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D6F93-5BD9-4D61-8130-FDFC598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397F4-F8DD-4415-BBC0-0FD6103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ADBC8-DA78-4F92-82C4-15E7325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040CE-EE99-4759-B2D4-15B3A41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rules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E3F47-5AAD-44B1-8EDC-881EDFDD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D8DE6-830C-4AC3-B418-8AAA43AB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5D47F-A646-4B21-9061-856C912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99280-1856-43EF-8142-AA27864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Dashboard + optional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LLM narrative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6B0ED-24D3-4301-922E-8CA67DD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956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2250" b="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0236E-BA5A-49A3-B8F8-F93AD47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6B082-3C57-4A30-93C6-C6AD8425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76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F3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B3E4E-925A-4DE9-9737-17C41B5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1762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Engineer verifies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and confirms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35379-5874-4BC9-86C3-E6B8188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4D1C3-A9DE-413D-B632-98BCC9D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Rules produce the category and candidates. The optional LLM only summarizes retrieved evidence. Confirmation and repairs stay human-controlled.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F9C96-361A-4CFD-8E1D-EC61E08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EBE46-E537-4E72-A8DA-37317E8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1A799-99C5-426A-B9B8-45847F4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4981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1642E-7687-49E3-9A6D-A1FADBA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4509D-408D-4436-8EB5-68987C49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dashboard reads incident telemetry calculated in Exasol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58501-9C09-4B51-ADC9-A316FF53B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fcf60a5ee422e"/>
          <a:srcRect xmlns:a="http://schemas.openxmlformats.org/drawingml/2006/main" l="13" t="0" r="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905750" cy="4448175"/>
          </a:xfrm>
          <a:prstGeom xmlns:a="http://schemas.openxmlformats.org/drawingml/2006/main" prst="roundRect">
            <a:avLst>
              <a:gd name="adj" fmla="val 25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0301E-762A-4931-A695-82EF0E4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FF708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708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C339-4759-4E2C-B485-7C861DB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failed pipeline runs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3B56-D5EE-46FA-904F-E635BA0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766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8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1,220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57230-272B-483F-BE03-4737DE9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24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aggregate missing rows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in the captured 4-case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D31C1-567B-4485-A634-19362EDA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9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Captured baseline: 4 incidents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Current seed: 11 incident scenarios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DDB0"/>
                </a:solidFill>
                <a:latin typeface="Arial"/>
                <a:ea typeface="Arial"/>
                <a:cs typeface="Arial"/>
              </a:rPr>
              <a:t>✓ All values are synthetic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060C-7F29-495D-B3C9-ED0572D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271D2-C3ED-4DE1-A2C2-93AB976F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7C714-2C9D-4CE5-AF3C-ABE8788C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89670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0CB98-4064-455A-8CD5-2A1F7475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INVESTIGATION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3B06-0C4B-4052-AB33-29277B1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Every recommendation points back to source evidence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4FD2E-F53D-44B0-9260-B3F3E6923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a3e1413554bbe"/>
          <a:srcRect xmlns:a="http://schemas.openxmlformats.org/drawingml/2006/main" l="15" t="0" r="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952625"/>
            <a:ext cx="683895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8D24-039E-4AAC-A056-54A3407C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Selected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9E714-7177-4B63-9CCA-8ECE867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daily_sales_import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1B593-D8CE-49D9-BBB9-465F8DEB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Expected: 100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Received: 80 rows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Missing: 20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0FC1-4E82-4B16-8326-273B7BBE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61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EVIDENCE TRAIL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PIPELINE_RUNS: status and row counts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LOG-1: expected 100 source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LOG-2: source returned only 80 rows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LOG-3: import ended before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C9C51-6017-4CBC-AAD3-556D6BEA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7594-9A9B-4C46-9FB4-B2F748C2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6994C-9844-480B-9EB2-07432BD5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observation-label">
            <a:extLst xmlns:a="http://schemas.openxmlformats.org/drawingml/2006/main">
              <a:ext uri="{FF2B5EF4-FFF2-40B4-BE49-F238E27FC236}">
                <a16:creationId xmlns:a16="http://schemas.microsoft.com/office/drawing/2014/main" id="{1A1B611E-2BB3-40E0-86D3-755DE16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4" name="candidate-label">
            <a:extLst xmlns:a="http://schemas.openxmlformats.org/drawingml/2006/main">
              <a:ext uri="{FF2B5EF4-FFF2-40B4-BE49-F238E27FC236}">
                <a16:creationId xmlns:a16="http://schemas.microsoft.com/office/drawing/2014/main" id="{D5C85D3C-E306-442A-B46C-0A9FA9E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483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15" name="candidate-detail">
            <a:extLst xmlns:a="http://schemas.openxmlformats.org/drawingml/2006/main">
              <a:ext uri="{FF2B5EF4-FFF2-40B4-BE49-F238E27FC236}">
                <a16:creationId xmlns:a16="http://schemas.microsoft.com/office/drawing/2014/main" id="{A50CE275-A933-4F5C-A252-AC7561A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19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 shortfall or early termination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Confidence: low</a:t>
            </a:r>
          </a:p>
        </p:txBody>
      </p:sp>
      <p:sp>
        <p:nvSpPr>
          <p:cNvPr id="16" name="confirmation-label">
            <a:extLst xmlns:a="http://schemas.openxmlformats.org/drawingml/2006/main">
              <a:ext uri="{FF2B5EF4-FFF2-40B4-BE49-F238E27FC236}">
                <a16:creationId xmlns:a16="http://schemas.microsoft.com/office/drawing/2014/main" id="{45411344-1D0B-4259-B5B1-858F262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4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17" name="confirmation-detail">
            <a:extLst xmlns:a="http://schemas.openxmlformats.org/drawingml/2006/main">
              <a:ext uri="{FF2B5EF4-FFF2-40B4-BE49-F238E27FC236}">
                <a16:creationId xmlns:a16="http://schemas.microsoft.com/office/drawing/2014/main" id="{4E3C3132-0269-49E9-9EBE-F0E6F37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19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None</a:t>
            </a:r>
          </a:p>
          <a:p xmlns:a="http://schemas.openxmlformats.org/drawingml/2006/main">
            <a:pPr>
              <a:buNone/>
              <a:defRPr sz="105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0F3FA"/>
                </a:solidFill>
                <a:latin typeface="Arial"/>
                <a:ea typeface="Arial"/>
                <a:cs typeface="Arial"/>
              </a:rPr>
              <a:t>Human verification required</a:t>
            </a:r>
          </a:p>
        </p:txBody>
      </p:sp>
    </p:spTree>
    <p:extLst>
      <p:ext uri="{BB962C8B-B14F-4D97-AF65-F5344CB8AC3E}">
        <p14:creationId xmlns:p14="http://schemas.microsoft.com/office/powerpoint/2010/main" val="1233535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06E98-B789-414B-A7E9-383F1B9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WHY EXASOL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51DA0-AF78-49B0-BCCA-83EBDD78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Exasol computes incident context before FastAPI responds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41578-D9DB-4587-A74A-2E8AB10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ANALYTICAL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6D927-9242-4F97-ABBC-61C449DF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D73E-B486-4F05-9C63-CBCFFC5A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Previous run status with LAG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67BEF-18DB-437D-AE2F-0F91B5F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B3424-2DA8-4D17-8A3B-4B89BAC7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actual-row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50DC5-923B-49B1-9F8D-CB8B7B47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2A7FC-4B4B-4108-8180-89672C9B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Rolling 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71A6C-EB49-4DC1-9FAE-0A8A1375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61A4-44C7-4A64-AAC0-74E97444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Missing rows and completeness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BBAD6-2C80-4D28-A378-F4A18AF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196F4-EC63-4330-A180-970E20BA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FastAPI reads the view directly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9057C-E9E7-4A82-85CC-59F0E1A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2376F-DBBF-4F01-B65F-09D7B28E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48927-F426-4975-ADB7-764EA28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verified-query-panel">
            <a:extLst xmlns:a="http://schemas.openxmlformats.org/drawingml/2006/main">
              <a:ext uri="{FF2B5EF4-FFF2-40B4-BE49-F238E27FC236}">
                <a16:creationId xmlns:a16="http://schemas.microsoft.com/office/drawing/2014/main" id="{33216510-30A7-404A-8452-048BBEE7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73405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0D1322"/>
          </a:solidFill>
          <a:ln xmlns:a="http://schemas.openxmlformats.org/drawingml/2006/main" w="9525">
            <a:solidFill>
              <a:srgbClr val="34415D"/>
            </a:solidFill>
            <a:prstDash val="solid"/>
          </a:ln>
        </p:spPr>
      </p:sp>
      <p:sp>
        <p:nvSpPr>
          <p:cNvPr id="23" name="verified-query-title">
            <a:extLst xmlns:a="http://schemas.openxmlformats.org/drawingml/2006/main">
              <a:ext uri="{FF2B5EF4-FFF2-40B4-BE49-F238E27FC236}">
                <a16:creationId xmlns:a16="http://schemas.microsoft.com/office/drawing/2014/main" id="{FE72BC8C-8EDF-4D45-A594-44BF8BBB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QUERY USED BY GET /analytics/trend</a:t>
            </a:r>
          </a:p>
        </p:txBody>
      </p:sp>
      <p:sp>
        <p:nvSpPr>
          <p:cNvPr id="24" name="verified-query">
            <a:extLst xmlns:a="http://schemas.openxmlformats.org/drawingml/2006/main">
              <a:ext uri="{FF2B5EF4-FFF2-40B4-BE49-F238E27FC236}">
                <a16:creationId xmlns:a16="http://schemas.microsoft.com/office/drawing/2014/main" id="{8629D6B4-E3B0-4391-AC32-51939178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4991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pPr>
            <a:r>
              <a: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rPr>
              <a:t>SELECT RUN_DAY, COUNT(*) AS TOTAL_RUNS,</a:t>
            </a:r>
          </a:p>
          <a:p xmlns:a="http://schemas.openxmlformats.org/drawingml/2006/main">
            <a: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pPr>
            <a:r>
              <a: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rPr>
              <a:t>       SUM(IS_INCIDENT) AS INCIDENT_COUNT,</a:t>
            </a:r>
          </a:p>
          <a:p xmlns:a="http://schemas.openxmlformats.org/drawingml/2006/main">
            <a: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pPr>
            <a:r>
              <a: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rPr>
              <a:t>       ROUND(AVG(COMPLETENESS_PCT), 1) AS AVG_COMPLETE</a:t>
            </a:r>
          </a:p>
          <a:p xmlns:a="http://schemas.openxmlformats.org/drawingml/2006/main">
            <a: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pPr>
            <a:r>
              <a: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rPr>
              <a:t>FROM OPSINTEL.PIPELINE_HEALTH_FEATURES</a:t>
            </a:r>
          </a:p>
          <a:p xmlns:a="http://schemas.openxmlformats.org/drawingml/2006/main">
            <a:pPr>
              <a:def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defRPr>
            </a:pPr>
            <a:r>
              <a:rPr sz="1050">
                <a:solidFill>
                  <a:srgbClr val="D7DEEF"/>
                </a:solidFill>
                <a:latin typeface="Courier New"/>
                <a:ea typeface="Courier New"/>
                <a:cs typeface="Courier New"/>
              </a:rPr>
              <a:t>GROUP BY RUN_DAY;</a:t>
            </a:r>
          </a:p>
        </p:txBody>
      </p:sp>
      <p:sp>
        <p:nvSpPr>
          <p:cNvPr id="25" name="query-divider">
            <a:extLst xmlns:a="http://schemas.openxmlformats.org/drawingml/2006/main">
              <a:ext uri="{FF2B5EF4-FFF2-40B4-BE49-F238E27FC236}">
                <a16:creationId xmlns:a16="http://schemas.microsoft.com/office/drawing/2014/main" id="{9C955A80-8ED9-407E-BE0B-2D172E2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48125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149"/>
            </a:solidFill>
            <a:prstDash val="solid"/>
          </a:ln>
        </p:spPr>
      </p:sp>
      <p:sp>
        <p:nvSpPr>
          <p:cNvPr id="26" name="verified-result-label">
            <a:extLst xmlns:a="http://schemas.openxmlformats.org/drawingml/2006/main">
              <a:ext uri="{FF2B5EF4-FFF2-40B4-BE49-F238E27FC236}">
                <a16:creationId xmlns:a16="http://schemas.microsoft.com/office/drawing/2014/main" id="{3D673C3E-5C86-4639-BAA4-CCE63A02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95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RECORDED EXASOL OUTPUT · PRIOR 4-CASE SEED</a:t>
            </a:r>
          </a:p>
        </p:txBody>
      </p:sp>
      <p:sp>
        <p:nvSpPr>
          <p:cNvPr id="27" name="verified-result-metrics">
            <a:extLst xmlns:a="http://schemas.openxmlformats.org/drawingml/2006/main">
              <a:ext uri="{FF2B5EF4-FFF2-40B4-BE49-F238E27FC236}">
                <a16:creationId xmlns:a16="http://schemas.microsoft.com/office/drawing/2014/main" id="{03630B6C-26EA-4980-9677-87674AA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5 runs  ·  4 incidents  ·  56.0% complete</a:t>
            </a:r>
          </a:p>
        </p:txBody>
      </p:sp>
      <p:sp>
        <p:nvSpPr>
          <p:cNvPr id="28" name="verified-result-note">
            <a:extLst xmlns:a="http://schemas.openxmlformats.org/drawingml/2006/main">
              <a:ext uri="{FF2B5EF4-FFF2-40B4-BE49-F238E27FC236}">
                <a16:creationId xmlns:a16="http://schemas.microsoft.com/office/drawing/2014/main" id="{176A5CC8-C0C2-48A6-A340-0890F102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33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A5BD"/>
                </a:solidFill>
                <a:latin typeface="Arial"/>
                <a:ea typeface="Arial"/>
                <a:cs typeface="Arial"/>
              </a:rPr>
              <a:t>The API reads the view directly; window calculations stay beside the run history. Re-run the expanded seed before the live demo.</a:t>
            </a:r>
          </a:p>
        </p:txBody>
      </p:sp>
    </p:spTree>
    <p:extLst>
      <p:ext uri="{BB962C8B-B14F-4D97-AF65-F5344CB8AC3E}">
        <p14:creationId xmlns:p14="http://schemas.microsoft.com/office/powerpoint/2010/main" val="609782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apability-eyebrow">
            <a:extLst xmlns:a="http://schemas.openxmlformats.org/drawingml/2006/main">
              <a:ext uri="{FF2B5EF4-FFF2-40B4-BE49-F238E27FC236}">
                <a16:creationId xmlns:a16="http://schemas.microsoft.com/office/drawing/2014/main" id="{A7A0DB6C-1E7F-460F-BBC1-174CBA2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WHAT EXASOL MADE POSSIBLE</a:t>
            </a:r>
          </a:p>
        </p:txBody>
      </p:sp>
      <p:sp>
        <p:nvSpPr>
          <p:cNvPr id="2" name="capability-title">
            <a:extLst xmlns:a="http://schemas.openxmlformats.org/drawingml/2006/main">
              <a:ext uri="{FF2B5EF4-FFF2-40B4-BE49-F238E27FC236}">
                <a16:creationId xmlns:a16="http://schemas.microsoft.com/office/drawing/2014/main" id="{6C9C34D8-DA85-468D-BCB9-69412FB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One SQL layer turns telemetry into explainable incident context</a:t>
            </a:r>
          </a:p>
        </p:txBody>
      </p:sp>
      <p:sp>
        <p:nvSpPr>
          <p:cNvPr id="3" name="capability-card-01">
            <a:extLst xmlns:a="http://schemas.openxmlformats.org/drawingml/2006/main">
              <a:ext uri="{FF2B5EF4-FFF2-40B4-BE49-F238E27FC236}">
                <a16:creationId xmlns:a16="http://schemas.microsoft.com/office/drawing/2014/main" id="{0B0D26DB-0ADE-45B3-8181-6BB3DA6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143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D1322"/>
          </a:solidFill>
          <a:ln xmlns:a="http://schemas.openxmlformats.org/drawingml/2006/main" w="9525">
            <a:solidFill>
              <a:srgbClr val="61D9F7"/>
            </a:solidFill>
            <a:prstDash val="solid"/>
          </a:ln>
        </p:spPr>
      </p:sp>
      <p:sp>
        <p:nvSpPr>
          <p:cNvPr id="4" name="capability-number-01">
            <a:extLst xmlns:a="http://schemas.openxmlformats.org/drawingml/2006/main">
              <a:ext uri="{FF2B5EF4-FFF2-40B4-BE49-F238E27FC236}">
                <a16:creationId xmlns:a16="http://schemas.microsoft.com/office/drawing/2014/main" id="{076C3E8E-D95B-42A4-8F1E-33717C4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apability-title-01">
            <a:extLst xmlns:a="http://schemas.openxmlformats.org/drawingml/2006/main">
              <a:ext uri="{FF2B5EF4-FFF2-40B4-BE49-F238E27FC236}">
                <a16:creationId xmlns:a16="http://schemas.microsoft.com/office/drawing/2014/main" id="{BE4E7170-B334-41D0-89DA-072DEDC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Window analytics</a:t>
            </a:r>
          </a:p>
        </p:txBody>
      </p:sp>
      <p:sp>
        <p:nvSpPr>
          <p:cNvPr id="6" name="capability-body-01">
            <a:extLst xmlns:a="http://schemas.openxmlformats.org/drawingml/2006/main">
              <a:ext uri="{FF2B5EF4-FFF2-40B4-BE49-F238E27FC236}">
                <a16:creationId xmlns:a16="http://schemas.microsoft.com/office/drawing/2014/main" id="{94F0FBF6-9949-4AE7-856A-733767AC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A5BD"/>
                </a:solidFill>
                <a:latin typeface="Arial"/>
                <a:ea typeface="Arial"/>
                <a:cs typeface="Arial"/>
              </a:rPr>
              <a:t>LAG, rolling baselines and failure rates compare each run with recent history inside Exasol.</a:t>
            </a:r>
          </a:p>
        </p:txBody>
      </p:sp>
      <p:sp>
        <p:nvSpPr>
          <p:cNvPr id="7" name="capability-card-02">
            <a:extLst xmlns:a="http://schemas.openxmlformats.org/drawingml/2006/main">
              <a:ext uri="{FF2B5EF4-FFF2-40B4-BE49-F238E27FC236}">
                <a16:creationId xmlns:a16="http://schemas.microsoft.com/office/drawing/2014/main" id="{E35A2293-B644-445D-B69A-F2B1A6FB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143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D1322"/>
          </a:solidFill>
          <a:ln xmlns:a="http://schemas.openxmlformats.org/drawingml/2006/main" w="9525">
            <a:solidFill>
              <a:srgbClr val="9B8CFF"/>
            </a:solidFill>
            <a:prstDash val="solid"/>
          </a:ln>
        </p:spPr>
      </p:sp>
      <p:sp>
        <p:nvSpPr>
          <p:cNvPr id="8" name="capability-number-02">
            <a:extLst xmlns:a="http://schemas.openxmlformats.org/drawingml/2006/main">
              <a:ext uri="{FF2B5EF4-FFF2-40B4-BE49-F238E27FC236}">
                <a16:creationId xmlns:a16="http://schemas.microsoft.com/office/drawing/2014/main" id="{7F61B0DE-B4A6-4B05-9124-7ACA4B67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apability-title-02">
            <a:extLst xmlns:a="http://schemas.openxmlformats.org/drawingml/2006/main">
              <a:ext uri="{FF2B5EF4-FFF2-40B4-BE49-F238E27FC236}">
                <a16:creationId xmlns:a16="http://schemas.microsoft.com/office/drawing/2014/main" id="{077EECEC-04F3-4FAD-9C72-BA593F3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90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Failure cascade</a:t>
            </a:r>
          </a:p>
        </p:txBody>
      </p:sp>
      <p:sp>
        <p:nvSpPr>
          <p:cNvPr id="10" name="capability-body-02">
            <a:extLst xmlns:a="http://schemas.openxmlformats.org/drawingml/2006/main">
              <a:ext uri="{FF2B5EF4-FFF2-40B4-BE49-F238E27FC236}">
                <a16:creationId xmlns:a16="http://schemas.microsoft.com/office/drawing/2014/main" id="{70F359FA-56C6-4625-B973-A1AD46B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A5BD"/>
                </a:solidFill>
                <a:latin typeface="Arial"/>
                <a:ea typeface="Arial"/>
                <a:cs typeface="Arial"/>
              </a:rPr>
              <a:t>CONNECT BY traverses pipeline dependencies so one upstream failure can explain several downstream incidents.</a:t>
            </a:r>
          </a:p>
        </p:txBody>
      </p:sp>
      <p:sp>
        <p:nvSpPr>
          <p:cNvPr id="11" name="capability-card-03">
            <a:extLst xmlns:a="http://schemas.openxmlformats.org/drawingml/2006/main">
              <a:ext uri="{FF2B5EF4-FFF2-40B4-BE49-F238E27FC236}">
                <a16:creationId xmlns:a16="http://schemas.microsoft.com/office/drawing/2014/main" id="{E45C2FE8-9415-4269-96BE-A3ADC320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3143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0D1322"/>
          </a:solidFill>
          <a:ln xmlns:a="http://schemas.openxmlformats.org/drawingml/2006/main" w="9525">
            <a:solidFill>
              <a:srgbClr val="58DDB0"/>
            </a:solidFill>
            <a:prstDash val="solid"/>
          </a:ln>
        </p:spPr>
      </p:sp>
      <p:sp>
        <p:nvSpPr>
          <p:cNvPr id="12" name="capability-number-03">
            <a:extLst xmlns:a="http://schemas.openxmlformats.org/drawingml/2006/main">
              <a:ext uri="{FF2B5EF4-FFF2-40B4-BE49-F238E27FC236}">
                <a16:creationId xmlns:a16="http://schemas.microsoft.com/office/drawing/2014/main" id="{755449D3-1CDA-4A6B-9A07-49425105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apability-title-03">
            <a:extLst xmlns:a="http://schemas.openxmlformats.org/drawingml/2006/main">
              <a:ext uri="{FF2B5EF4-FFF2-40B4-BE49-F238E27FC236}">
                <a16:creationId xmlns:a16="http://schemas.microsoft.com/office/drawing/2014/main" id="{7836BFBC-B511-413E-B1BB-382B034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90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Shared evidence</a:t>
            </a:r>
          </a:p>
        </p:txBody>
      </p:sp>
      <p:sp>
        <p:nvSpPr>
          <p:cNvPr id="14" name="capability-body-03">
            <a:extLst xmlns:a="http://schemas.openxmlformats.org/drawingml/2006/main">
              <a:ext uri="{FF2B5EF4-FFF2-40B4-BE49-F238E27FC236}">
                <a16:creationId xmlns:a16="http://schemas.microsoft.com/office/drawing/2014/main" id="{19D49740-D9A8-4098-A84F-635B779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628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9AA5BD"/>
                </a:solidFill>
                <a:latin typeface="Arial"/>
                <a:ea typeface="Arial"/>
                <a:cs typeface="Arial"/>
              </a:rPr>
              <a:t>FastAPI returns the same SQL-derived metrics and source records that judges can inspect in the dashboard.</a:t>
            </a:r>
          </a:p>
        </p:txBody>
      </p:sp>
      <p:sp>
        <p:nvSpPr>
          <p:cNvPr id="15" name="cascade-label">
            <a:extLst xmlns:a="http://schemas.openxmlformats.org/drawingml/2006/main">
              <a:ext uri="{FF2B5EF4-FFF2-40B4-BE49-F238E27FC236}">
                <a16:creationId xmlns:a16="http://schemas.microsoft.com/office/drawing/2014/main" id="{CA4ACBF8-EF80-44A7-8A9D-7B035A9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IMPLEMENTED CASCADE QUERY</a:t>
            </a:r>
          </a:p>
        </p:txBody>
      </p:sp>
      <p:sp>
        <p:nvSpPr>
          <p:cNvPr id="16" name="cascade-root">
            <a:extLst xmlns:a="http://schemas.openxmlformats.org/drawingml/2006/main">
              <a:ext uri="{FF2B5EF4-FFF2-40B4-BE49-F238E27FC236}">
                <a16:creationId xmlns:a16="http://schemas.microsoft.com/office/drawing/2014/main" id="{6AC1ABC5-71E6-4CBA-8187-6377B23D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customer_sync</a:t>
            </a:r>
          </a:p>
        </p:txBody>
      </p:sp>
      <p:sp>
        <p:nvSpPr>
          <p:cNvPr id="17" name="cascade-line">
            <a:extLst xmlns:a="http://schemas.openxmlformats.org/drawingml/2006/main">
              <a:ext uri="{FF2B5EF4-FFF2-40B4-BE49-F238E27FC236}">
                <a16:creationId xmlns:a16="http://schemas.microsoft.com/office/drawing/2014/main" id="{97615E1E-F0A2-4C0B-86B2-676AD8CB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435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46079"/>
            </a:solidFill>
            <a:prstDash val="solid"/>
          </a:ln>
        </p:spPr>
      </p:sp>
      <p:sp>
        <p:nvSpPr>
          <p:cNvPr id="18" name="cascade-arrow">
            <a:extLst xmlns:a="http://schemas.openxmlformats.org/drawingml/2006/main">
              <a:ext uri="{FF2B5EF4-FFF2-40B4-BE49-F238E27FC236}">
                <a16:creationId xmlns:a16="http://schemas.microsoft.com/office/drawing/2014/main" id="{4A54CD24-020E-461E-9E27-FE2CD97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33975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defPPr>
            <a:lvl1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54607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4607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cascade-children">
            <a:extLst xmlns:a="http://schemas.openxmlformats.org/drawingml/2006/main">
              <a:ext uri="{FF2B5EF4-FFF2-40B4-BE49-F238E27FC236}">
                <a16:creationId xmlns:a16="http://schemas.microsoft.com/office/drawing/2014/main" id="{57AE45CE-743F-49AC-8D0B-9FEC8D55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668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daily_reporting   ·   customer_orders_sync   ·   billing_customer_export</a:t>
            </a:r>
          </a:p>
        </p:txBody>
      </p:sp>
      <p:sp>
        <p:nvSpPr>
          <p:cNvPr id="20" name="comparison-status">
            <a:extLst xmlns:a="http://schemas.openxmlformats.org/drawingml/2006/main">
              <a:ext uri="{FF2B5EF4-FFF2-40B4-BE49-F238E27FC236}">
                <a16:creationId xmlns:a16="http://schemas.microsoft.com/office/drawing/2014/main" id="{E7FC9993-6555-458B-AB2D-502DCD9D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1D9F7"/>
                </a:solidFill>
                <a:latin typeface="Arial"/>
                <a:ea typeface="Arial"/>
                <a:cs typeface="Arial"/>
              </a:rPr>
              <a:t>Performance comparison status: DuckDB baseline recorded at 1M and 10M rows; the same-machine Exasol run is pending. No database-winner claim is made.</a:t>
            </a:r>
          </a:p>
        </p:txBody>
      </p:sp>
      <p:sp>
        <p:nvSpPr>
          <p:cNvPr id="21" name="capability-footer-line">
            <a:extLst xmlns:a="http://schemas.openxmlformats.org/drawingml/2006/main">
              <a:ext uri="{FF2B5EF4-FFF2-40B4-BE49-F238E27FC236}">
                <a16:creationId xmlns:a16="http://schemas.microsoft.com/office/drawing/2014/main" id="{7F9793AE-F641-43CE-8331-A6FA7EE5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2" name="capability-footer">
            <a:extLst xmlns:a="http://schemas.openxmlformats.org/drawingml/2006/main">
              <a:ext uri="{FF2B5EF4-FFF2-40B4-BE49-F238E27FC236}">
                <a16:creationId xmlns:a16="http://schemas.microsoft.com/office/drawing/2014/main" id="{3A76A152-8E2E-4913-A965-CF9627A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3" name="capability-page">
            <a:extLst xmlns:a="http://schemas.openxmlformats.org/drawingml/2006/main">
              <a:ext uri="{FF2B5EF4-FFF2-40B4-BE49-F238E27FC236}">
                <a16:creationId xmlns:a16="http://schemas.microsoft.com/office/drawing/2014/main" id="{87897DF7-DDFF-48FF-8EE6-5A02E823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5718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3228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490F3-3205-47D3-81F2-B2E4EC3C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MEASURED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42010-3354-4173-9B2F-B50C710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Measured separately: performance, software tests and synthetic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E8A72-A8C5-4D6B-9FBF-9FFBBB01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473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47A74-FE69-4DFA-9B0D-4FF80539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median analytical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DD64B-77F2-4195-B109-3DF5188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71/71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E5E40-79E2-45ED-A1E4-6F3A56C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53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F08F-E928-4DA0-B346-1E3047E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1EDF-4B9D-4318-92D6-B6B1CD8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predefined synthetic challenge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107B-7DE0-4040-9DA3-536491D3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3.025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D39FB-6DAB-4529-91A8-DF5B148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91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1,000,000-row import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7041-1118-4DA2-A7BE-5A615056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74809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74809A"/>
                </a:solidFill>
                <a:latin typeface="Arial"/>
                <a:ea typeface="Arial"/>
                <a:cs typeface="Arial"/>
              </a:rPr>
              <a:t>Exasol benchmark: 1M-row import 3.025 s; analytical query median 473 ms, p95 504 ms, 7 repeats, local single-user. Tests: 71/71. Regression: 16/16. Project-authored holdout: 27/27—not independent.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EF85-0310-4285-B752-FCC776A5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F5261-2B68-4156-8471-8FED503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889EB-1BD7-4B47-853F-19A4FCF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AB94B0CF-3577-4DD5-9553-7CE9B4E63F7F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6667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6c4f60efe040c4"/>
          </a:graphicData>
        </a:graphic>
      </p:graphicFrame>
    </p:spTree>
    <p:extLst>
      <p:ext uri="{BB962C8B-B14F-4D97-AF65-F5344CB8AC3E}">
        <p14:creationId xmlns:p14="http://schemas.microsoft.com/office/powerpoint/2010/main" val="1001122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33EDC-08C1-42A0-9A42-9B4780B4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TRUST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D4EDD-29B2-4F49-9A24-C995E3E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The product is designed to abstain before it overclaims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489A6-6570-4CB0-9FD3-1B98A478D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0270d28914bcc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6762750" cy="3800475"/>
          </a:xfrm>
          <a:prstGeom xmlns:a="http://schemas.openxmlformats.org/drawingml/2006/main" prst="roundRect">
            <a:avLst>
              <a:gd name="adj" fmla="val 300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160EE-D22A-4DB2-B2AF-2571C8C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E224E-B5F8-4753-846D-D26B420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Source-backed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5F54-2230-4A3D-9742-F9DF94BA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C84AB-CC67-4278-A39C-7EC0E812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Evidence-supported possibility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3747-528F-4B36-8392-ED73F2D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C1ABD-D53B-4C58-8397-F56D7B8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Reserved for human verification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D7307-8192-46A6-9AA6-B907714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INSUFFICIENT EVIDENCE EXAMPLE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Worker exited with code 71. No diagnostic details.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E8B76E"/>
                </a:solidFill>
                <a:latin typeface="Arial"/>
                <a:ea typeface="Arial"/>
                <a:cs typeface="Arial"/>
              </a:rPr>
              <a:t>Result: unclassified. Optional summary cannot confirm a cause or run a repair.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D08C-476E-401A-A3D9-BDB7CD0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0B2C3-CC6E-41B0-83CC-FAD5C7E2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46E27-F104-482C-A7BE-E5EAED2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7012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F1442-DFE5-406E-893D-C2485EF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VALIDATION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D91EE-A427-4473-B243-B8FF9005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What is proven, and what must be proven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B0726-C442-4435-A501-B873897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26209-DA73-4FA4-AE4F-3B654F1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8DD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8DDB0"/>
                </a:solidFill>
                <a:latin typeface="Arial"/>
                <a:ea typeface="Arial"/>
                <a:cs typeface="Arial"/>
              </a:rPr>
              <a:t>PROVEN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E866A-975A-4E0E-B02B-ED672CE0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Live Exasol-backed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30F43-21A5-4BA4-AA32-6E6C03F7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One-million-row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B3B-AD6A-46E5-A785-C7FB4CBE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71 automated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BAC7B-33EB-43ED-B166-06DD95A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LLM claims cite evidence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5CAC1-23E6-4737-A229-0AA80846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B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AED60-FFD3-44CE-B05F-9D167CE9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DEFINED, NOT COMPLETED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1EAA-8D5B-48D0-9E71-F6203F40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External holdout: 0 reviewer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8D41E-0405-4198-BD9E-72E9579E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Controlled Exasol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62489-4DF2-4E6E-84CB-5C84F4A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Impact study: 0/40 trials (0/4 people)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56331-F37D-417C-9E10-06624AC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Clean-machine rehearsal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364B1-C105-47F6-8424-5349E40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B7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EB507-7430-4259-9A77-16CE4622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19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E8B7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8B76E"/>
                </a:solidFill>
                <a:latin typeface="Arial"/>
                <a:ea typeface="Arial"/>
                <a:cs typeface="Arial"/>
              </a:rPr>
              <a:t>PRODUCTION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093F9-77E4-443C-9AFD-03D42DB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F3FA"/>
                </a:solidFill>
                <a:latin typeface="Arial"/>
                <a:ea typeface="Arial"/>
                <a:cs typeface="Arial"/>
              </a:rPr>
              <a:t>01  Live Airflow / dbt 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57E7D-658E-4A8C-84E5-EB5807F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02  Authentication and authorization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6C30E-766C-455D-996C-71179B40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03  Concurrent workload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B4299-5DC3-450F-8385-7E06E80C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04  Audited retention and monitoring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81144-81C8-4601-81D1-CB1047F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Evaluation workflows are ready. External cases and participant trials remain pending.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21384-59F1-4490-A11A-231305E0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02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F56C3-1BF3-4229-94A5-CB073F9A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OPSINTEL AI  /  EXATHON INDIA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55044-99B0-4BB6-B1E3-A34E512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22812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C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0A548-206B-4000-ABD3-CACE5BE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9B8C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B8CFF"/>
                </a:solidFill>
                <a:latin typeface="Arial"/>
                <a:ea typeface="Arial"/>
                <a:cs typeface="Arial"/>
              </a:rPr>
              <a:t>OPSINTEL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46DEE-DA81-4CCA-9EF8-27E4343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52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Follow the evidence.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Investigate faster.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0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0F3FA"/>
                </a:solidFill>
                <a:latin typeface="Arial"/>
                <a:ea typeface="Arial"/>
                <a:cs typeface="Arial"/>
              </a:rPr>
              <a:t>Confirm carefully.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FF222-CAED-4B1D-A3D0-259F534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8DDB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CBFAA-E76B-4692-AD83-09F719B0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1D9F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1D9F7"/>
                </a:solidFill>
                <a:latin typeface="Arial"/>
                <a:ea typeface="Arial"/>
                <a:cs typeface="Arial"/>
              </a:rPr>
              <a:t>github.com/Anafa-thabassum/opsintel-ai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5045E-1F28-4C2C-9CF0-79B788B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AA5B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AA5BD"/>
                </a:solidFill>
                <a:latin typeface="Arial"/>
                <a:ea typeface="Arial"/>
                <a:cs typeface="Arial"/>
              </a:rPr>
              <a:t>Live demo: one incident, five observations, one safe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65DFE-A9D4-4C15-B854-3B231E8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246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900" b="0">
                <a:solidFill>
                  <a:srgbClr val="657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571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5292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2026-10-19T05:04:58.5240000Z</dcterms:created>
  <dcterms:modified xsi:type="dcterms:W3CDTF">2026-10-19T05:04:58.5240000Z</dcterms:modified>
</coreProperties>
</file>