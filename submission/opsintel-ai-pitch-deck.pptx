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3b77fb8c8e241e2" /><Relationship Type="http://schemas.openxmlformats.org/officeDocument/2006/relationships/extended-properties" Target="/docProps/app.xml" Id="Rf625c1764aa54a20" /><Relationship Type="http://schemas.openxmlformats.org/officeDocument/2006/relationships/officeDocument" Target="/ppt/presentation.xml" Id="R85398854dee541a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626848b4a94a78"/>
  </p:sldMasterIdLst>
  <p:notesMasterIdLst>
    <p:notesMasterId xmlns:r="http://schemas.openxmlformats.org/officeDocument/2006/relationships" r:id="R7137506e51654c96"/>
  </p:notesMasterIdLst>
  <p:sldIdLst>
    <p:sldId xmlns:r="http://schemas.openxmlformats.org/officeDocument/2006/relationships" id="256" r:id="Rf26cda66262a4f7a"/>
    <p:sldId xmlns:r="http://schemas.openxmlformats.org/officeDocument/2006/relationships" id="257" r:id="Rc38258a46cba454e"/>
    <p:sldId xmlns:r="http://schemas.openxmlformats.org/officeDocument/2006/relationships" id="258" r:id="R8b3273b0cd5944e6"/>
    <p:sldId xmlns:r="http://schemas.openxmlformats.org/officeDocument/2006/relationships" id="259" r:id="Rb8a238f3e43644ca"/>
    <p:sldId xmlns:r="http://schemas.openxmlformats.org/officeDocument/2006/relationships" id="260" r:id="R85548aef1a314fdc"/>
    <p:sldId xmlns:r="http://schemas.openxmlformats.org/officeDocument/2006/relationships" id="261" r:id="Rec3efd37cbc343e0"/>
    <p:sldId xmlns:r="http://schemas.openxmlformats.org/officeDocument/2006/relationships" id="262" r:id="R5ef78927781143a6"/>
    <p:sldId xmlns:r="http://schemas.openxmlformats.org/officeDocument/2006/relationships" id="263" r:id="Rd078d67b43ba4979"/>
    <p:sldId xmlns:r="http://schemas.openxmlformats.org/officeDocument/2006/relationships" id="264" r:id="Rb64f2576e97344d4"/>
    <p:sldId xmlns:r="http://schemas.openxmlformats.org/officeDocument/2006/relationships" id="265" r:id="Rac238309791a4a3b"/>
    <p:sldId xmlns:r="http://schemas.openxmlformats.org/officeDocument/2006/relationships" id="266" r:id="Rebb755176f944b8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2f51c6f2ec4685" /><Relationship Type="http://schemas.openxmlformats.org/officeDocument/2006/relationships/slideMaster" Target="/ppt/slideMasters/slideMaster1.xml" Id="R7c626848b4a94a78" /><Relationship Type="http://schemas.openxmlformats.org/officeDocument/2006/relationships/notesMaster" Target="/ppt/notesMasters/notesMaster1.xml" Id="R7137506e51654c96" /><Relationship Type="http://schemas.openxmlformats.org/officeDocument/2006/relationships/presProps" Target="/ppt/presProps.xml" Id="R60d1ad2403f14f1e" /><Relationship Type="http://schemas.openxmlformats.org/officeDocument/2006/relationships/tableStyles" Target="/ppt/tableStyles.xml" Id="R4dc3f08965a54522" /><Relationship Type="http://schemas.openxmlformats.org/officeDocument/2006/relationships/slide" Target="/ppt/slides/slide1.xml" Id="Rf26cda66262a4f7a" /><Relationship Type="http://schemas.openxmlformats.org/officeDocument/2006/relationships/slide" Target="/ppt/slides/slide2.xml" Id="Rc38258a46cba454e" /><Relationship Type="http://schemas.openxmlformats.org/officeDocument/2006/relationships/slide" Target="/ppt/slides/slide3.xml" Id="R8b3273b0cd5944e6" /><Relationship Type="http://schemas.openxmlformats.org/officeDocument/2006/relationships/slide" Target="/ppt/slides/slide4.xml" Id="Rb8a238f3e43644ca" /><Relationship Type="http://schemas.openxmlformats.org/officeDocument/2006/relationships/slide" Target="/ppt/slides/slide5.xml" Id="R85548aef1a314fdc" /><Relationship Type="http://schemas.openxmlformats.org/officeDocument/2006/relationships/slide" Target="/ppt/slides/slide6.xml" Id="Rec3efd37cbc343e0" /><Relationship Type="http://schemas.openxmlformats.org/officeDocument/2006/relationships/slide" Target="/ppt/slides/slide7.xml" Id="R5ef78927781143a6" /><Relationship Type="http://schemas.openxmlformats.org/officeDocument/2006/relationships/slide" Target="/ppt/slides/slide8.xml" Id="Rd078d67b43ba4979" /><Relationship Type="http://schemas.openxmlformats.org/officeDocument/2006/relationships/slide" Target="/ppt/slides/slide9.xml" Id="Rb64f2576e97344d4" /><Relationship Type="http://schemas.openxmlformats.org/officeDocument/2006/relationships/slide" Target="/ppt/slides/slide10.xml" Id="Rac238309791a4a3b" /><Relationship Type="http://schemas.openxmlformats.org/officeDocument/2006/relationships/slide" Target="/ppt/slides/slide11.xml" Id="Rebb755176f944b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5a78f38fb24e5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6e7c3d378f4901" /><Relationship Type="http://schemas.openxmlformats.org/officeDocument/2006/relationships/notesMaster" Target="/ppt/notesMasters/notesMaster1.xml" Id="Rf51377c08f24408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173fed76134682" /><Relationship Type="http://schemas.openxmlformats.org/officeDocument/2006/relationships/notesMaster" Target="/ppt/notesMasters/notesMaster1.xml" Id="Rd499e455c87d475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064444db144429" /><Relationship Type="http://schemas.openxmlformats.org/officeDocument/2006/relationships/notesMaster" Target="/ppt/notesMasters/notesMaster1.xml" Id="R9fbc275e522c4c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86b5a7e214d473b" /><Relationship Type="http://schemas.openxmlformats.org/officeDocument/2006/relationships/notesMaster" Target="/ppt/notesMasters/notesMaster1.xml" Id="R5018e8ca2bca4f3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4a54db99344306" /><Relationship Type="http://schemas.openxmlformats.org/officeDocument/2006/relationships/notesMaster" Target="/ppt/notesMasters/notesMaster1.xml" Id="Rb0a94f7a12714df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36ede61c0c4020" /><Relationship Type="http://schemas.openxmlformats.org/officeDocument/2006/relationships/notesMaster" Target="/ppt/notesMasters/notesMaster1.xml" Id="R39b17e29aa0f4d9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ce32c83449e4fec" /><Relationship Type="http://schemas.openxmlformats.org/officeDocument/2006/relationships/notesMaster" Target="/ppt/notesMasters/notesMaster1.xml" Id="Rb5f4787bd6fe4fb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81ca98395574a71" /><Relationship Type="http://schemas.openxmlformats.org/officeDocument/2006/relationships/notesMaster" Target="/ppt/notesMasters/notesMaster1.xml" Id="R3bb21c3403d44bc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b62b7c740864a4c" /><Relationship Type="http://schemas.openxmlformats.org/officeDocument/2006/relationships/notesMaster" Target="/ppt/notesMasters/notesMaster1.xml" Id="R4309f3c138624fe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25398941dcb439f" /><Relationship Type="http://schemas.openxmlformats.org/officeDocument/2006/relationships/notesMaster" Target="/ppt/notesMasters/notesMaster1.xml" Id="R7602b649810c417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5cd841e514d458c" /><Relationship Type="http://schemas.openxmlformats.org/officeDocument/2006/relationships/notesMaster" Target="/ppt/notesMasters/notesMaster1.xml" Id="Ra718fe220557450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reports/final-priorities-2026-10-31.md. Product description reflects investigation and reviewer-governed memory; it does not claim pipeline repair or measured time savings.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problem statement; app/db.py incident retrieval; reports/impact-study-protocol.md. The comparison states an expected benefit only. No measured time saving is claimed.</a:t>
            </a:r>
          </a:p>
          <a:p xmlns:a="http://schemas.openxmlformats.org/drawingml/2006/main">
            <a:br/>
            <a:r>
              <a:t>Source for outage-cost context: Uptime Institute Global Data Center Survey 2024, p. 19. https://datacenter.uptimeinstitute.com/rs/711-RIA-145/images/2024.GlobalDataCenterSurvey.Report.pdf?version=0. This is broader outage context, not a measured OpsIntel or pipeline-specific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app/investigator.py; app/main.py; app/memory.py; docs/verified-incident-memory.md. Deterministic classification remains primary. Optional LLM narrative cannot confirm causes. Memory approval requires a separate reviewer and evidence checklist. No automatic repair.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synthetic Exasol demo schema and dashboard. Values are generated demo telemetry, not production. Exasol was unavailable during the final 2026-10-31 UI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sql/seed.sql; app/investigator.py; docs/images/investigation-evidence.png. Run 1 has expected 100, actual 80, three logs, five observations, two candidates, low confidence, and confirmed_root_cause None.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sql/analysis/pipeline_health_features.sql; reports/exasol-benchmark.json; reports/evaluation.md. Analytical features use Exasol SQL. Reported query is historical local output; no live database was available in the final UI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sql/analysis/dependency_cascades.sql; reports/evaluation.md. CONNECT BY reports time correlation within 120 minutes. It does not establish causality. Candidate retrieval similarity is scored in the application; there is no memory UDF.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reports/exasol-benchmark.json; reports/database-comparison.json; reports/evaluation.md; reports/public-data-evaluation.md; reports/independent-holdout-v1.md; reports/classifier-improvement-report-v1.md. The 197 test count matches the current local verification run. Public 7/10 labels are project-authored, not independent ground truth. The 15/19 result is a comparison against the same historical reviewer set whose original baseline was 4/19; it is not a new independent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app/memory.py; reports/classifier-design-addendum-v1.md; docs/verified-incident-memory.md. Reviewer and class-specific checklist policy is approved as design but not empirically validated. No actual human confirmation was performed for this deck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reports/independent-holdout-v1.md; reports/classifier-improvement-report-v1.md; reports/public-data-evaluation.md; reports/business-impact-study.md; docs/verified-incident-memory.md. The 15/19 result reuses the original 19-case holdout and is not an independent evaluation. Public-data labels are project-assigned. No participant trial or new memory confirmation is claimed. Exasol was unavailable during the current UI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https://github.com/Anafa-thabassum/opsintel-ai. Existing video is an older 154.445-second recording and does not demonstrate verified memory. No new recording was made in this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ac389d5638481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345f98f309453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f97a16fa9b411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9b2d3a7a384cb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268f1936c045a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9ab040cc69415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6CF710-73BE-46C8-A783-4AE8465CCD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0511E79-67BE-4B39-921F-CA584CB02C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751C868-2389-4E81-A171-814ACC983C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F8F76E-566D-485C-8744-F882337043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5A30BB6-1341-4A8A-BB61-5B907DE86B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B0EBF7-2527-43B2-BDB7-2F23A3172F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1B0A86-8630-4267-94D6-32D8CD3823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47B2797-7FF4-4A5C-BF1A-0CCD8F0B20D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160F11-E4B9-4499-9D8B-1CE036C3D4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A710B8-D5E1-4935-B83A-EABD98D919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f716dde99c74e59" /><Relationship Type="http://schemas.openxmlformats.org/officeDocument/2006/relationships/slideLayout" Target="/ppt/slideLayouts/slideLayout1.xml" Id="R5cd53295bb4b4e6b" /><Relationship Type="http://schemas.openxmlformats.org/officeDocument/2006/relationships/slideLayout" Target="/ppt/slideLayouts/slideLayout2.xml" Id="Rd8094de7d78645bc" /><Relationship Type="http://schemas.openxmlformats.org/officeDocument/2006/relationships/slideLayout" Target="/ppt/slideLayouts/slideLayout3.xml" Id="R2410972c92634c31" /><Relationship Type="http://schemas.openxmlformats.org/officeDocument/2006/relationships/slideLayout" Target="/ppt/slideLayouts/slideLayout4.xml" Id="R03bb13a37c1242c0" /><Relationship Type="http://schemas.openxmlformats.org/officeDocument/2006/relationships/slideLayout" Target="/ppt/slideLayouts/slideLayout5.xml" Id="R3fd6fece705345e8" /><Relationship Type="http://schemas.openxmlformats.org/officeDocument/2006/relationships/slideLayout" Target="/ppt/slideLayouts/slideLayout6.xml" Id="R6e29e0a4775e43e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cd53295bb4b4e6b"/>
    <p:sldLayoutId xmlns:r="http://schemas.openxmlformats.org/officeDocument/2006/relationships" id="2147483650" r:id="Rd8094de7d78645bc"/>
    <p:sldLayoutId xmlns:r="http://schemas.openxmlformats.org/officeDocument/2006/relationships" id="2147483651" r:id="R2410972c92634c31"/>
    <p:sldLayoutId xmlns:r="http://schemas.openxmlformats.org/officeDocument/2006/relationships" id="2147483652" r:id="R03bb13a37c1242c0"/>
    <p:sldLayoutId xmlns:r="http://schemas.openxmlformats.org/officeDocument/2006/relationships" id="2147483653" r:id="R3fd6fece705345e8"/>
    <p:sldLayoutId xmlns:r="http://schemas.openxmlformats.org/officeDocument/2006/relationships" id="2147483654" r:id="R6e29e0a4775e43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70c2f028494f81" /><Relationship Type="http://schemas.openxmlformats.org/officeDocument/2006/relationships/notesSlide" Target="/ppt/notesSlides/notesSlide1.xml" Id="Rd3a6b65faf0747f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ac532f65bc4fd3" /><Relationship Type="http://schemas.openxmlformats.org/officeDocument/2006/relationships/notesSlide" Target="/ppt/notesSlides/notesSlide2.xml" Id="R1e03b5a3a79c479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e3904b562d4b1d" /><Relationship Type="http://schemas.openxmlformats.org/officeDocument/2006/relationships/notesSlide" Target="/ppt/notesSlides/notesSlide3.xml" Id="Rc0f6bfc47b7842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56d0c32c6e4810" /><Relationship Type="http://schemas.openxmlformats.org/officeDocument/2006/relationships/image" Target="/ppt/media/image.jpeg" Id="R375442447c9e4f43" /><Relationship Type="http://schemas.openxmlformats.org/officeDocument/2006/relationships/notesSlide" Target="/ppt/notesSlides/notesSlide4.xml" Id="R77549255411f411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03243d075e4de7" /><Relationship Type="http://schemas.openxmlformats.org/officeDocument/2006/relationships/image" Target="/ppt/media/image2.jpeg" Id="R87edbc5f152c47da" /><Relationship Type="http://schemas.openxmlformats.org/officeDocument/2006/relationships/notesSlide" Target="/ppt/notesSlides/notesSlide5.xml" Id="Rbcf7dfeb56254b4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ad5483342c4bb6" /><Relationship Type="http://schemas.openxmlformats.org/officeDocument/2006/relationships/notesSlide" Target="/ppt/notesSlides/notesSlide6.xml" Id="Reb5f93797d3748e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0226d5ec8141dd" /><Relationship Type="http://schemas.openxmlformats.org/officeDocument/2006/relationships/notesSlide" Target="/ppt/notesSlides/notesSlide7.xml" Id="R2bb43037a97f4f3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7d2ec739de4112" /><Relationship Type="http://schemas.openxmlformats.org/officeDocument/2006/relationships/image" Target="/ppt/media/image.png" Id="R508cb8d7839d4613" /><Relationship Type="http://schemas.openxmlformats.org/officeDocument/2006/relationships/notesSlide" Target="/ppt/notesSlides/notesSlide8.xml" Id="Rce5598b497084dc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346ca824344427" /><Relationship Type="http://schemas.openxmlformats.org/officeDocument/2006/relationships/image" Target="/ppt/media/image3.jpeg" Id="Rdaed5a8d7be042d1" /><Relationship Type="http://schemas.openxmlformats.org/officeDocument/2006/relationships/notesSlide" Target="/ppt/notesSlides/notesSlide9.xml" Id="Ra1cdc49bc5e244f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178cdb7aca4f8d" /><Relationship Type="http://schemas.openxmlformats.org/officeDocument/2006/relationships/notesSlide" Target="/ppt/notesSlides/notesSlide10.xml" Id="Rec655ca7b6aa4d8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d3419c4c894479" /><Relationship Type="http://schemas.openxmlformats.org/officeDocument/2006/relationships/notesSlide" Target="/ppt/notesSlides/notesSlide11.xml" Id="R3db1d8f3d0574e9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7A3E9-1123-4B20-A1C2-19136880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FFF90-634C-476A-B16B-05AA0962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90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88F48B-8EFF-4837-AC6D-BBF53BF6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810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Evidence-first pipeline investigation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40742-1FED-4E5E-B585-63E5F2C8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742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Investigate incidents with traceable evidence and reviewer-governed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C4821-30BA-4FE6-A808-88E54EC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14981-4EED-49A7-99EB-A3D0EF67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EXATHON INDIA 2026  /  TRACK 04: THE WORK BEHIND THE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F1F51-4AA0-4BF4-A7D4-54FF6250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2809A"/>
                </a:solidFill>
                <a:latin typeface="Arial"/>
                <a:ea typeface="Arial"/>
                <a:cs typeface="Arial"/>
              </a:rPr>
              <a:t>Public prototype  •  MIT licensed  •  Synthetic + public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06ADB-ABC7-45AD-96F6-950DF782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787943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4F7ED-6DBB-4066-BA46-6F5E0BFF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DBFC1-BD17-4073-8092-EC152CD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On-call engineers piece together pipeline incidents from scattered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EBA27-C86C-4EC4-A143-5168602A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MANUAL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25D0C7-ACD8-4746-9F0B-B2449BE5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419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Run status, counts, and logs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86D73-F221-4F04-AB3F-A766E1D4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4476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 failed run reports 80 of 100 expected rows. The engineer must connect run history, counts, and logs before choosing the next check.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187B0-D155-41CA-8AC0-FD553D4B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152650"/>
            <a:ext cx="0" cy="3314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324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39F91-66BC-42F8-B2C3-5635DEC7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E2A72-7377-42C8-B2D2-2C4577E0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89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C663C-24F4-4990-A5E8-05607208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289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Select the failed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CE6B8-DC53-43D5-9F53-E095127D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528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DD6DF-F2D6-4215-B7A0-3C2B892D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52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Review cited status, counts, and logs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79137-8B3E-439F-9B14-3041FE6F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767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85CDD-4C08-4852-8297-A3010A28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767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Keep facts separate from candidate explanations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B0BA77-D1DF-4D1B-A08B-59140011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006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748D68-B8CC-41E1-BE75-907A33BE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006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Cause stays unconfirmed until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FD6CB-1F51-49B8-9E13-6D5C3DF0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29250"/>
            <a:ext cx="5048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88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54% of survey respondents reported a significant outage costing more than $100k (Uptime Institute, 2024). OpsIntel time saving remains unmeasured.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05393B-0FC6-4B32-97C1-565CF44F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00BB5-2023-4241-8458-E456F36A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FF8D9-2F8B-46F6-B033-072F1260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059260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A27D2A-353E-4DDD-8DB3-6440D545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PRODUCT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1E24E-A6A9-40B6-A446-0CBD3FEC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evidence becomes a reviewable investigation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E920A-451B-4BAE-8CC7-A24854CB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DC992-BB64-41FA-AB72-0F4A77A0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1D9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589F7-C5CA-45A4-8B26-777F9324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Pipeline runs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53D03-5DBA-4005-8020-26CD7EE7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A3BAC-7157-4C36-A61D-60F550F5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F1F1B-EE0D-44CF-8985-F9C684DC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75E5C-D1B3-4224-B852-4823ABE1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SQL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analytics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DD6F93-5BD9-4D61-8130-FDFC5982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397F4-F8DD-4415-BBC0-0FD6103E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ADBC8-DA78-4F92-82C4-15E73256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6040CE-EE99-4759-B2D4-15B3A415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FastAPI rules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candidates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2E3F47-5AAD-44B1-8EDC-881EDFDD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D8DE6-830C-4AC3-B418-8AAA43AB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5D47F-A646-4B21-9061-856C912E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99280-1856-43EF-8142-AA27864A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Dashboard + optional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LLM narrative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F6B0ED-24D3-4301-922E-8CA67DD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F0236E-BA5A-49A3-B8F8-F93AD474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6B082-3C57-4A30-93C6-C6AD8425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F3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CB3E4E-925A-4DE9-9737-17C41B5C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Investigator submits;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reviewer decides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35379-5874-4BC9-86C3-E6B8188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Safety boundary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E4D1C3-A9DE-413D-B632-98BCC9D1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The deterministic classifier proposes symptoms and candidates. An optional LLM only summarizes retrieved evidence. A separate authorized reviewer checks criteria and evidence before Exasol stores a confirmation. No repair runs automatically.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2F9C96-361A-4CFD-8E1D-EC61E08C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EBE46-E537-4E72-A8DA-37317E82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B1A799-99C5-426A-B9B8-45847F4C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49813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1642E-7687-49E3-9A6D-A1FADBA5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DASHBOARD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4509D-408D-4436-8EB5-68987C49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dashboard view · synthetic demo telemetry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4923CD-9760-4539-97DD-027C190873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5442447c9e4f43"/>
          <a:srcRect xmlns:a="http://schemas.openxmlformats.org/drawingml/2006/main" l="13" t="0" r="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7905750" cy="4448175"/>
          </a:xfrm>
          <a:prstGeom xmlns:a="http://schemas.openxmlformats.org/drawingml/2006/main" prst="roundRect">
            <a:avLst>
              <a:gd name="adj" fmla="val 25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0301E-762A-4931-A695-82EF0E4C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38375"/>
            <a:ext cx="1714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708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9C339-4759-4E2C-B485-7C861DB9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76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failed pipeline runs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83B56-D5EE-46FA-904F-E635BA0E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7665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1,220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57230-272B-483F-BE03-4737DE9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243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aggregate missing rows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in the captured 4-case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D31C1-567B-4485-A634-19362EDA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219700"/>
            <a:ext cx="2476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Captured baseline: 4 incidents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Current seed: 11 incident scenarios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All values are synthetic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A060C-7F29-495D-B3C9-ED0572D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271D2-C3ED-4DE1-A2C2-93AB976F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7C714-2C9D-4CE5-AF3C-ABE8788C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989670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30CB98-4064-455A-8CD5-2A1F7475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INVESTIGATION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83B06-0C4B-4052-AB33-29277B10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Every recommendation points back to source evidence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D714D4-D3BF-45AF-A540-244C767806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edbc5f152c47da"/>
          <a:srcRect xmlns:a="http://schemas.openxmlformats.org/drawingml/2006/main" l="15" t="0" r="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7250" y="1952625"/>
            <a:ext cx="6838950" cy="3848100"/>
          </a:xfrm>
          <a:prstGeom xmlns:a="http://schemas.openxmlformats.org/drawingml/2006/main" prst="roundRect">
            <a:avLst>
              <a:gd name="adj" fmla="val 29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18D24-039E-4AAC-A056-54A3407C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Selected failure vs last success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9E714-7177-4B63-9CCA-8ECE867D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daily_sales_import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1B593-D8CE-49D9-BBB9-465F8DEB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3619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Failed: 80 / 100 rows (80%)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Last success: 100 / 100 (100%)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Change: -20 rows / -20 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B0FC1-4E82-4B16-8326-273B7BBE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36195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EVIDENCE TRAIL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PIPELINE_RUNS: status and row counts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LOG-1: expected 100 source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LOG-2: source returned only 80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LOG-3: import ended before completion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C9C51-6017-4CBC-AAD3-556D6BEA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37594-9A9B-4C46-9FB4-B2F748C2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6994C-9844-480B-9EB2-07432BD5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observation-label">
            <a:extLst xmlns:a="http://schemas.openxmlformats.org/drawingml/2006/main">
              <a:ext uri="{FF2B5EF4-FFF2-40B4-BE49-F238E27FC236}">
                <a16:creationId xmlns:a16="http://schemas.microsoft.com/office/drawing/2014/main" id="{1A1B611E-2BB3-40E0-86D3-755DE165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FAILED VS LAST SUCCESS</a:t>
            </a:r>
          </a:p>
        </p:txBody>
      </p:sp>
      <p:sp>
        <p:nvSpPr>
          <p:cNvPr id="14" name="candidate-label">
            <a:extLst xmlns:a="http://schemas.openxmlformats.org/drawingml/2006/main">
              <a:ext uri="{FF2B5EF4-FFF2-40B4-BE49-F238E27FC236}">
                <a16:creationId xmlns:a16="http://schemas.microsoft.com/office/drawing/2014/main" id="{D5C85D3C-E306-442A-B46C-0A9FA9E5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8483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CANDIDATES</a:t>
            </a:r>
          </a:p>
        </p:txBody>
      </p:sp>
      <p:sp>
        <p:nvSpPr>
          <p:cNvPr id="15" name="candidate-detail">
            <a:extLst xmlns:a="http://schemas.openxmlformats.org/drawingml/2006/main">
              <a:ext uri="{FF2B5EF4-FFF2-40B4-BE49-F238E27FC236}">
                <a16:creationId xmlns:a16="http://schemas.microsoft.com/office/drawing/2014/main" id="{A50CE275-A933-4F5C-A252-AC7561A8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01980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 shortfall or early termination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Confidence: low</a:t>
            </a:r>
          </a:p>
        </p:txBody>
      </p:sp>
      <p:sp>
        <p:nvSpPr>
          <p:cNvPr id="16" name="confirmation-label">
            <a:extLst xmlns:a="http://schemas.openxmlformats.org/drawingml/2006/main">
              <a:ext uri="{FF2B5EF4-FFF2-40B4-BE49-F238E27FC236}">
                <a16:creationId xmlns:a16="http://schemas.microsoft.com/office/drawing/2014/main" id="{45411344-1D0B-4259-B5B1-858F2623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8483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HUMAN CONFIRMATION</a:t>
            </a:r>
          </a:p>
        </p:txBody>
      </p:sp>
      <p:sp>
        <p:nvSpPr>
          <p:cNvPr id="17" name="confirmation-detail">
            <a:extLst xmlns:a="http://schemas.openxmlformats.org/drawingml/2006/main">
              <a:ext uri="{FF2B5EF4-FFF2-40B4-BE49-F238E27FC236}">
                <a16:creationId xmlns:a16="http://schemas.microsoft.com/office/drawing/2014/main" id="{4E3C3132-0269-49E9-9EBE-F0E6F379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0198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Not yet verified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 automated repair</a:t>
            </a:r>
          </a:p>
        </p:txBody>
      </p:sp>
    </p:spTree>
    <p:extLst>
      <p:ext uri="{BB962C8B-B14F-4D97-AF65-F5344CB8AC3E}">
        <p14:creationId xmlns:p14="http://schemas.microsoft.com/office/powerpoint/2010/main" val="12335354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A06E98-B789-414B-A7E9-383F1B9A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WHY EXASOL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51DA0-AF78-49B0-BCCA-83EBDD78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computes incident context before FastAPI responds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41578-D9DB-4587-A74A-2E8AB10B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ANALYTICAL FEATURES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6D927-9242-4F97-ABBC-61C449DF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6D73E-B486-4F05-9C63-CBCFFC5A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Previous run status with LAG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67BEF-18DB-437D-AE2F-0F91B5FA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B3424-2DA8-4D17-8A3B-4B89BAC7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908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actual-row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50DC5-923B-49B1-9F8D-CB8B7B47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2A7FC-4B4B-4108-8180-89672C9B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failure 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71A6C-EB49-4DC1-9FAE-0A8A1375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161A4-44C7-4A64-AAC0-74E97444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2912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Missing rows and completeness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7BBAD6-2C80-4D28-A378-F4A18AF1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196F4-EC63-4330-A180-970E20BA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482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Parallel in-memory SQL execution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C9057C-E9E7-4A82-85CC-59F0E1A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2376F-DBBF-4F01-B65F-09D7B28E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048927-F426-4975-ADB7-764EA283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verified-query-panel">
            <a:extLst xmlns:a="http://schemas.openxmlformats.org/drawingml/2006/main">
              <a:ext uri="{FF2B5EF4-FFF2-40B4-BE49-F238E27FC236}">
                <a16:creationId xmlns:a16="http://schemas.microsoft.com/office/drawing/2014/main" id="{33216510-30A7-404A-8452-048BBEE7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95500"/>
            <a:ext cx="5734050" cy="35814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34415D"/>
            </a:solidFill>
            <a:prstDash val="solid"/>
          </a:ln>
        </p:spPr>
      </p:sp>
      <p:sp>
        <p:nvSpPr>
          <p:cNvPr id="23" name="verified-query-title">
            <a:extLst xmlns:a="http://schemas.openxmlformats.org/drawingml/2006/main">
              <a:ext uri="{FF2B5EF4-FFF2-40B4-BE49-F238E27FC236}">
                <a16:creationId xmlns:a16="http://schemas.microsoft.com/office/drawing/2014/main" id="{FE72BC8C-8EDF-4D45-A594-44BF8BBB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43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LIVE QUERY USED BY /analytics/trend</a:t>
            </a:r>
          </a:p>
        </p:txBody>
      </p:sp>
      <p:sp>
        <p:nvSpPr>
          <p:cNvPr id="24" name="verified-query">
            <a:extLst xmlns:a="http://schemas.openxmlformats.org/drawingml/2006/main">
              <a:ext uri="{FF2B5EF4-FFF2-40B4-BE49-F238E27FC236}">
                <a16:creationId xmlns:a16="http://schemas.microsoft.com/office/drawing/2014/main" id="{8629D6B4-E3B0-4391-AC32-51939178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49911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defPPr>
            <a:lvl1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1pPr>
            <a:lvl2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2pPr>
            <a:lvl3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3pPr>
            <a:lvl4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4pPr>
            <a:lvl5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5pPr>
            <a:lvl6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6pPr>
            <a:lvl7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7pPr>
            <a:lvl8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8pPr>
            <a:lvl9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SELECT RUN_DAY, COUNT(*) AS TOTAL_RUNS,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SUM(IS_INCIDENT) AS INCIDENT_COUNT,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ROUND(AVG(COMPLETENESS_PCT), 1) AS AVG_COMPLETE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FROM OPSINTEL.PIPELINE_HEALTH_FEATURES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GROUP BY RUN_DAY;</a:t>
            </a:r>
          </a:p>
        </p:txBody>
      </p:sp>
      <p:sp>
        <p:nvSpPr>
          <p:cNvPr id="25" name="query-divider">
            <a:extLst xmlns:a="http://schemas.openxmlformats.org/drawingml/2006/main">
              <a:ext uri="{FF2B5EF4-FFF2-40B4-BE49-F238E27FC236}">
                <a16:creationId xmlns:a16="http://schemas.microsoft.com/office/drawing/2014/main" id="{9C955A80-8ED9-407E-BE0B-2D172E24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48125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3149"/>
            </a:solidFill>
            <a:prstDash val="solid"/>
          </a:ln>
        </p:spPr>
      </p:sp>
      <p:sp>
        <p:nvSpPr>
          <p:cNvPr id="26" name="verified-result-label">
            <a:extLst xmlns:a="http://schemas.openxmlformats.org/drawingml/2006/main">
              <a:ext uri="{FF2B5EF4-FFF2-40B4-BE49-F238E27FC236}">
                <a16:creationId xmlns:a16="http://schemas.microsoft.com/office/drawing/2014/main" id="{3D673C3E-5C86-4639-BAA4-CCE63A02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957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VERIFIED EXASOL OUTPUT</a:t>
            </a:r>
          </a:p>
        </p:txBody>
      </p:sp>
      <p:sp>
        <p:nvSpPr>
          <p:cNvPr id="27" name="verified-result-metrics">
            <a:extLst xmlns:a="http://schemas.openxmlformats.org/drawingml/2006/main">
              <a:ext uri="{FF2B5EF4-FFF2-40B4-BE49-F238E27FC236}">
                <a16:creationId xmlns:a16="http://schemas.microsoft.com/office/drawing/2014/main" id="{03630B6C-26EA-4980-9677-87674AA6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958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12 runs, 11 incidents, 64.1% average completeness</a:t>
            </a:r>
          </a:p>
        </p:txBody>
      </p:sp>
      <p:sp>
        <p:nvSpPr>
          <p:cNvPr id="28" name="verified-result-note">
            <a:extLst xmlns:a="http://schemas.openxmlformats.org/drawingml/2006/main">
              <a:ext uri="{FF2B5EF4-FFF2-40B4-BE49-F238E27FC236}">
                <a16:creationId xmlns:a16="http://schemas.microsoft.com/office/drawing/2014/main" id="{176A5CC8-C0C2-48A6-A340-0890F102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339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9AA5BD"/>
                </a:solidFill>
                <a:latin typeface="Arial"/>
                <a:ea typeface="Arial"/>
                <a:cs typeface="Arial"/>
              </a:rPr>
              <a:t>Recorded Exasol Personal output for the synthetic demo schema; it is not a live service check from this run.</a:t>
            </a:r>
          </a:p>
        </p:txBody>
      </p:sp>
    </p:spTree>
    <p:extLst>
      <p:ext uri="{BB962C8B-B14F-4D97-AF65-F5344CB8AC3E}">
        <p14:creationId xmlns:p14="http://schemas.microsoft.com/office/powerpoint/2010/main" val="6097828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capability-eyebrow">
            <a:extLst xmlns:a="http://schemas.openxmlformats.org/drawingml/2006/main">
              <a:ext uri="{FF2B5EF4-FFF2-40B4-BE49-F238E27FC236}">
                <a16:creationId xmlns:a16="http://schemas.microsoft.com/office/drawing/2014/main" id="{A7A0DB6C-1E7F-460F-BBC1-174CBA23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TEMPORAL DEPENDENCY CORRELATION</a:t>
            </a:r>
          </a:p>
        </p:txBody>
      </p:sp>
      <p:sp>
        <p:nvSpPr>
          <p:cNvPr id="2" name="capability-title">
            <a:extLst xmlns:a="http://schemas.openxmlformats.org/drawingml/2006/main">
              <a:ext uri="{FF2B5EF4-FFF2-40B4-BE49-F238E27FC236}">
                <a16:creationId xmlns:a16="http://schemas.microsoft.com/office/drawing/2014/main" id="{6C9C34D8-DA85-468D-BCB9-69412FB3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CONNECT BY surfaces time-correlated downstream failures</a:t>
            </a:r>
          </a:p>
        </p:txBody>
      </p:sp>
      <p:sp>
        <p:nvSpPr>
          <p:cNvPr id="3" name="capability-card-01">
            <a:extLst xmlns:a="http://schemas.openxmlformats.org/drawingml/2006/main">
              <a:ext uri="{FF2B5EF4-FFF2-40B4-BE49-F238E27FC236}">
                <a16:creationId xmlns:a16="http://schemas.microsoft.com/office/drawing/2014/main" id="{0B0D26DB-0ADE-45B3-8181-6BB3DA68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61D9F7"/>
            </a:solidFill>
            <a:prstDash val="solid"/>
          </a:ln>
        </p:spPr>
      </p:sp>
      <p:sp>
        <p:nvSpPr>
          <p:cNvPr id="4" name="capability-number-01">
            <a:extLst xmlns:a="http://schemas.openxmlformats.org/drawingml/2006/main">
              <a:ext uri="{FF2B5EF4-FFF2-40B4-BE49-F238E27FC236}">
                <a16:creationId xmlns:a16="http://schemas.microsoft.com/office/drawing/2014/main" id="{076C3E8E-D95B-42A4-8F1E-33717C41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capability-title-01">
            <a:extLst xmlns:a="http://schemas.openxmlformats.org/drawingml/2006/main">
              <a:ext uri="{FF2B5EF4-FFF2-40B4-BE49-F238E27FC236}">
                <a16:creationId xmlns:a16="http://schemas.microsoft.com/office/drawing/2014/main" id="{BE4E7170-B334-41D0-89DA-072DEDC9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Window analytics at scale</a:t>
            </a:r>
          </a:p>
        </p:txBody>
      </p:sp>
      <p:sp>
        <p:nvSpPr>
          <p:cNvPr id="6" name="capability-body-01">
            <a:extLst xmlns:a="http://schemas.openxmlformats.org/drawingml/2006/main">
              <a:ext uri="{FF2B5EF4-FFF2-40B4-BE49-F238E27FC236}">
                <a16:creationId xmlns:a16="http://schemas.microsoft.com/office/drawing/2014/main" id="{94F0FBF6-9949-4AE7-856A-733767AC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LAG, rolling baselines and failure rates compare each run with recent history inside Exasol.</a:t>
            </a:r>
          </a:p>
        </p:txBody>
      </p:sp>
      <p:sp>
        <p:nvSpPr>
          <p:cNvPr id="7" name="capability-card-02">
            <a:extLst xmlns:a="http://schemas.openxmlformats.org/drawingml/2006/main">
              <a:ext uri="{FF2B5EF4-FFF2-40B4-BE49-F238E27FC236}">
                <a16:creationId xmlns:a16="http://schemas.microsoft.com/office/drawing/2014/main" id="{E35A2293-B644-445D-B69A-F2B1A6FB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9B8CFF"/>
            </a:solidFill>
            <a:prstDash val="solid"/>
          </a:ln>
        </p:spPr>
      </p:sp>
      <p:sp>
        <p:nvSpPr>
          <p:cNvPr id="8" name="capability-number-02">
            <a:extLst xmlns:a="http://schemas.openxmlformats.org/drawingml/2006/main">
              <a:ext uri="{FF2B5EF4-FFF2-40B4-BE49-F238E27FC236}">
                <a16:creationId xmlns:a16="http://schemas.microsoft.com/office/drawing/2014/main" id="{7F61B0DE-B4A6-4B05-9124-7ACA4B67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capability-title-02">
            <a:extLst xmlns:a="http://schemas.openxmlformats.org/drawingml/2006/main">
              <a:ext uri="{FF2B5EF4-FFF2-40B4-BE49-F238E27FC236}">
                <a16:creationId xmlns:a16="http://schemas.microsoft.com/office/drawing/2014/main" id="{077EECEC-04F3-4FAD-9C72-BA593F3FC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Failure cascade</a:t>
            </a:r>
          </a:p>
        </p:txBody>
      </p:sp>
      <p:sp>
        <p:nvSpPr>
          <p:cNvPr id="10" name="capability-body-02">
            <a:extLst xmlns:a="http://schemas.openxmlformats.org/drawingml/2006/main">
              <a:ext uri="{FF2B5EF4-FFF2-40B4-BE49-F238E27FC236}">
                <a16:creationId xmlns:a16="http://schemas.microsoft.com/office/drawing/2014/main" id="{70F359FA-56C6-4625-B973-A1AD46BD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CONNECT BY retains downstream failures within a 120-minute window. Temporal correlation only. Causation not confirmed.</a:t>
            </a:r>
          </a:p>
        </p:txBody>
      </p:sp>
      <p:sp>
        <p:nvSpPr>
          <p:cNvPr id="11" name="capability-card-03">
            <a:extLst xmlns:a="http://schemas.openxmlformats.org/drawingml/2006/main">
              <a:ext uri="{FF2B5EF4-FFF2-40B4-BE49-F238E27FC236}">
                <a16:creationId xmlns:a16="http://schemas.microsoft.com/office/drawing/2014/main" id="{E45C2FE8-9415-4269-96BE-A3ADC320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58DDB0"/>
            </a:solidFill>
            <a:prstDash val="solid"/>
          </a:ln>
        </p:spPr>
      </p:sp>
      <p:sp>
        <p:nvSpPr>
          <p:cNvPr id="12" name="capability-number-03">
            <a:extLst xmlns:a="http://schemas.openxmlformats.org/drawingml/2006/main">
              <a:ext uri="{FF2B5EF4-FFF2-40B4-BE49-F238E27FC236}">
                <a16:creationId xmlns:a16="http://schemas.microsoft.com/office/drawing/2014/main" id="{755449D3-1CDA-4A6B-9A07-49425105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capability-title-03">
            <a:extLst xmlns:a="http://schemas.openxmlformats.org/drawingml/2006/main">
              <a:ext uri="{FF2B5EF4-FFF2-40B4-BE49-F238E27FC236}">
                <a16:creationId xmlns:a16="http://schemas.microsoft.com/office/drawing/2014/main" id="{7836BFBC-B511-413E-B1BB-382B0346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evidence layer</a:t>
            </a:r>
          </a:p>
        </p:txBody>
      </p:sp>
      <p:sp>
        <p:nvSpPr>
          <p:cNvPr id="14" name="capability-body-03">
            <a:extLst xmlns:a="http://schemas.openxmlformats.org/drawingml/2006/main">
              <a:ext uri="{FF2B5EF4-FFF2-40B4-BE49-F238E27FC236}">
                <a16:creationId xmlns:a16="http://schemas.microsoft.com/office/drawing/2014/main" id="{19D49740-D9A8-4098-A84F-635B779A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FastAPI returns the same SQL-derived metrics and source records that judges can inspect in the dashboard.</a:t>
            </a:r>
          </a:p>
        </p:txBody>
      </p:sp>
      <p:sp>
        <p:nvSpPr>
          <p:cNvPr id="15" name="cascade-label">
            <a:extLst xmlns:a="http://schemas.openxmlformats.org/drawingml/2006/main">
              <a:ext uri="{FF2B5EF4-FFF2-40B4-BE49-F238E27FC236}">
                <a16:creationId xmlns:a16="http://schemas.microsoft.com/office/drawing/2014/main" id="{CA4ACBF8-EF80-44A7-8A9D-7B035A99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IMPLEMENTED CASCADE QUERY</a:t>
            </a:r>
          </a:p>
        </p:txBody>
      </p:sp>
      <p:sp>
        <p:nvSpPr>
          <p:cNvPr id="16" name="cascade-root">
            <a:extLst xmlns:a="http://schemas.openxmlformats.org/drawingml/2006/main">
              <a:ext uri="{FF2B5EF4-FFF2-40B4-BE49-F238E27FC236}">
                <a16:creationId xmlns:a16="http://schemas.microsoft.com/office/drawing/2014/main" id="{6AC1ABC5-71E6-4CBA-8187-6377B23D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customer_sync</a:t>
            </a:r>
          </a:p>
        </p:txBody>
      </p:sp>
      <p:sp>
        <p:nvSpPr>
          <p:cNvPr id="17" name="cascade-line">
            <a:extLst xmlns:a="http://schemas.openxmlformats.org/drawingml/2006/main">
              <a:ext uri="{FF2B5EF4-FFF2-40B4-BE49-F238E27FC236}">
                <a16:creationId xmlns:a16="http://schemas.microsoft.com/office/drawing/2014/main" id="{97615E1E-F0A2-4C0B-86B2-676AD8CB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34352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46079"/>
            </a:solidFill>
            <a:prstDash val="solid"/>
          </a:ln>
        </p:spPr>
      </p:sp>
      <p:sp>
        <p:nvSpPr>
          <p:cNvPr id="18" name="cascade-arrow">
            <a:extLst xmlns:a="http://schemas.openxmlformats.org/drawingml/2006/main">
              <a:ext uri="{FF2B5EF4-FFF2-40B4-BE49-F238E27FC236}">
                <a16:creationId xmlns:a16="http://schemas.microsoft.com/office/drawing/2014/main" id="{4A54CD24-020E-461E-9E27-FE2CD975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133975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cascade-children">
            <a:extLst xmlns:a="http://schemas.openxmlformats.org/drawingml/2006/main">
              <a:ext uri="{FF2B5EF4-FFF2-40B4-BE49-F238E27FC236}">
                <a16:creationId xmlns:a16="http://schemas.microsoft.com/office/drawing/2014/main" id="{57AE45CE-743F-49AC-8D0B-9FEC8D55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91125"/>
            <a:ext cx="668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daily_reporting   ·   customer_orders_sync   ·   billing_customer_export</a:t>
            </a:r>
          </a:p>
        </p:txBody>
      </p:sp>
      <p:sp>
        <p:nvSpPr>
          <p:cNvPr id="20" name="comparison-status">
            <a:extLst xmlns:a="http://schemas.openxmlformats.org/drawingml/2006/main">
              <a:ext uri="{FF2B5EF4-FFF2-40B4-BE49-F238E27FC236}">
                <a16:creationId xmlns:a16="http://schemas.microsoft.com/office/drawing/2014/main" id="{E7FC9993-6555-458B-AB2D-502DCD9D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1D9F7"/>
                </a:solidFill>
                <a:latin typeface="Arial"/>
                <a:ea typeface="Arial"/>
                <a:cs typeface="Arial"/>
              </a:rPr>
              <a:t>Recorded result: customer_sync is associated with 3 later failed runs in a 120-minute window. Bulk import loads benchmark history; matching is not an Exasol UDF.</a:t>
            </a:r>
          </a:p>
        </p:txBody>
      </p:sp>
      <p:sp>
        <p:nvSpPr>
          <p:cNvPr id="21" name="capability-footer-line">
            <a:extLst xmlns:a="http://schemas.openxmlformats.org/drawingml/2006/main">
              <a:ext uri="{FF2B5EF4-FFF2-40B4-BE49-F238E27FC236}">
                <a16:creationId xmlns:a16="http://schemas.microsoft.com/office/drawing/2014/main" id="{7F9793AE-F641-43CE-8331-A6FA7EE5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2" name="capability-footer">
            <a:extLst xmlns:a="http://schemas.openxmlformats.org/drawingml/2006/main">
              <a:ext uri="{FF2B5EF4-FFF2-40B4-BE49-F238E27FC236}">
                <a16:creationId xmlns:a16="http://schemas.microsoft.com/office/drawing/2014/main" id="{3A76A152-8E2E-4913-A965-CF9627A0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3" name="capability-page">
            <a:extLst xmlns:a="http://schemas.openxmlformats.org/drawingml/2006/main">
              <a:ext uri="{FF2B5EF4-FFF2-40B4-BE49-F238E27FC236}">
                <a16:creationId xmlns:a16="http://schemas.microsoft.com/office/drawing/2014/main" id="{87897DF7-DDFF-48FF-8EE6-5A02E823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132287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F490F3-3205-47D3-81F2-B2E4EC3C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LOCAL SINGLE-USER BENCHMARK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42010-3354-4173-9B2F-B50C7101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At 10M rows, DuckDB was 4.5× faster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E8A72-A8C5-4D6B-9FBF-9FFBBB01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530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5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9F7"/>
                </a:solidFill>
                <a:latin typeface="Arial"/>
                <a:ea typeface="Arial"/>
                <a:cs typeface="Arial"/>
              </a:rPr>
              <a:t>QUERY CACHE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47A74-FE69-4DFA-9B0D-4FF80539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197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40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40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8D9F7"/>
                </a:solidFill>
                <a:latin typeface="Arial"/>
                <a:ea typeface="Arial"/>
                <a:cs typeface="Arial"/>
              </a:rPr>
              <a:t>OFF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DD64B-77F2-4195-B109-3DF51883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95300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0DEB5"/>
                </a:solidFill>
                <a:latin typeface="Arial"/>
                <a:ea typeface="Arial"/>
                <a:cs typeface="Arial"/>
              </a:rPr>
              <a:t>REPETITIONS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E5E40-79E2-45ED-A1E4-6F3A56CC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219700"/>
            <a:ext cx="1657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2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2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0DEB5"/>
                </a:solidFill>
                <a:latin typeface="Arial"/>
                <a:ea typeface="Arial"/>
                <a:cs typeface="Arial"/>
              </a:rPr>
              <a:t>7 RUNS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9F08F-E928-4DA0-B346-1E3047E8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813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198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11EDF-4B9D-4318-92D6-B6B1CD81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528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automated tests passed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0107B-7DE0-4040-9DA3-536491D3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48125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7 / 10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D39FB-6DAB-4529-91A8-DF5B1483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910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project labels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synthetic: 27/27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67041-1118-4DA2-A7BE-5A615056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28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4809A"/>
                </a:solidFill>
                <a:latin typeface="Arial"/>
                <a:ea typeface="Arial"/>
                <a:cs typeface="Arial"/>
              </a:rPr>
              <a:t>Recorded local benchmark only. Same query, 7 runs per engine, cache off. At 10M rows DuckDB was 4.5× faster in this run. No production or concurrency claim.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9EF85-0310-4285-B752-FCC776A5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F5261-2B68-4156-8471-8FED503A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1889EB-1BD7-4B47-853F-19A4FCF0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A1D373-DB96-4CBC-991B-72F586EEA8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8cb8d7839d4613"/>
          <a:stretch xmlns:a="http://schemas.openxmlformats.org/drawingml/2006/main"/>
        </p:blipFill>
        <p:spPr>
          <a:xfrm xmlns:a="http://schemas.openxmlformats.org/drawingml/2006/main">
            <a:off x="685800" y="2143125"/>
            <a:ext cx="6667500" cy="28575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725AB0-C7A7-4454-9CBE-DCC52159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F7B95"/>
                </a:solidFill>
                <a:latin typeface="Arial"/>
                <a:ea typeface="Arial"/>
                <a:cs typeface="Arial"/>
              </a:rPr>
              <a:t>Source figure (non-editable). 10M medians: Exasol 4902.269 ms; DuckDB 1080.358 ms.</a:t>
            </a:r>
          </a:p>
        </p:txBody>
      </p:sp>
    </p:spTree>
    <p:extLst>
      <p:ext uri="{BB962C8B-B14F-4D97-AF65-F5344CB8AC3E}">
        <p14:creationId xmlns:p14="http://schemas.microsoft.com/office/powerpoint/2010/main" val="10011227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733EDC-08C1-42A0-9A42-9B4780B4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TRUST AND 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D4EDD-29B2-4F49-9A24-C995E3EB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Verified memory requires a separate reviewer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72BA96-9EAE-4061-82DA-87F38A92BA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ed5a8d7be042d1"/>
          <a:srcRect xmlns:a="http://schemas.openxmlformats.org/drawingml/2006/main" l="0" t="47" r="0" b="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6762750" cy="3800475"/>
          </a:xfrm>
          <a:prstGeom xmlns:a="http://schemas.openxmlformats.org/drawingml/2006/main" prst="roundRect">
            <a:avLst>
              <a:gd name="adj" fmla="val 3008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160EE-D22A-4DB2-B2AF-2571C8C0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71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OBSERVATION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E224E-B5F8-4753-846D-D26B4208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574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Source-backed facts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05F54-2230-4A3D-9742-F9DF94BA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C84AB-CC67-4278-A39C-7EC0E812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Evidence-supported possibility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63747-528F-4B36-8392-ED73F2D1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05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2C1ABD-D53B-4C58-8397-F56D7B8B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910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Authorized reviewer + evidence checklist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D7307-8192-46A6-9AA6-B9077145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Investigator submits cited evidence. A separate reviewer checks class criteria and conflicts. Approved causes are audited in Exasol; retrieved matches stay candidates.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BD08C-476E-401A-A3D9-BDB7CD06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0B2C3-CC6E-41B0-83CC-FAD5C7E2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46E27-F104-482C-A7BE-E5EAED28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870122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BF1442-DFE5-406E-893D-C2485EFC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VALIDATION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3D91EE-A427-4473-B243-B8FF9005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Measured evidence and remaining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B0726-C442-4435-A501-B873897B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26209-DA73-4FA4-AE4F-3B654F1B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RECORDED IN REPOSITORY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E866A-975A-4E0E-B02B-ED672CE0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Exasol queries, schema, and migration documented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30F43-21A5-4BA4-AA32-6E6C03F7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Local 1M/10M benchmark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27B3B-AD6A-46E5-A785-C7FB4CBE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198 automated tests passed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BAC7B-33EB-43ED-B166-06DD95AA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App routes inspected locally; Exasol unavailable today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5CAC1-23E6-4737-A229-0AA80846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AED60-FFD3-44CE-B05F-9D167CE9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NOT INDEPENDENT VALIDATION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11EAA-8D5B-48D0-9E71-F6203F40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Historical reviewer set: 4/19 baseline; 15/19 comparison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8D41E-0405-4198-BD9E-72E9579E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Same 19 cases; not a new independent evaluation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62489-4DF2-4E6E-84CB-5C84F4A9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Public corpus: 7/10 project labels; 0 outside adjudicators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56331-F37D-417C-9E10-06624ACB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Human impact study: 0 participants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364B1-C105-47F6-8424-5349E401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6EB507-7430-4259-9A77-16CE462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NEXT VALIDATION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093F9-77E4-443C-9AFD-03D42DB3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Rehearse reviewer confirmation on authorized Exasol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57E7D-658E-4A8C-84E5-EB5807F4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Obtain fresh independent labels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66C30E-766C-455D-996C-71179B40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Measure engineer investigation outcomes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0B4299-5DC3-450F-8385-7E06E80C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Record a new walkthrough without simulated actions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681144-81C8-4601-81D1-CB1047F8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Exasol was unavailable for this run. No new memory confirmation, independent labels, user study, or new video is claimed.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21384-59F1-4490-A11A-231305E0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7F56C3-1BF3-4229-94A5-CB073F9A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A55044-99B0-4BB6-B1E3-A34E5128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422812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0A548-206B-4000-ABD3-CACE5BED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46DEE-DA81-4CCA-9EF8-27E43435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7524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Investigate with evidence.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Keep causes reviewable.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Confirm only after review.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FF222-CAED-4B1D-A3D0-259F5340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CBFAA-E76B-4692-AD83-09F719B0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012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github.com/Anafa-thabassum/opsintel-ai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5045E-1F28-4C2C-9CF0-79B788B0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Demo status: current video is historical and does not show verified memory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65DFE-A9D4-4C15-B854-3B231E8D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5292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2026-10-31T03:32:12.7960000Z</dcterms:created>
  <dcterms:modified xsi:type="dcterms:W3CDTF">2026-10-31T03:32:12.7960000Z</dcterms:modified>
</coreProperties>
</file>