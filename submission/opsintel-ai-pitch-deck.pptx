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f725e1a39c41f7" /><Relationship Type="http://schemas.openxmlformats.org/officeDocument/2006/relationships/extended-properties" Target="/docProps/app.xml" Id="Recc7f74484e3470f" /><Relationship Type="http://schemas.openxmlformats.org/officeDocument/2006/relationships/officeDocument" Target="/ppt/presentation.xml" Id="R8c179dfe02aa45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85527ff3d74018"/>
  </p:sldMasterIdLst>
  <p:notesMasterIdLst>
    <p:notesMasterId xmlns:r="http://schemas.openxmlformats.org/officeDocument/2006/relationships" r:id="R6aa1091c160543e8"/>
  </p:notesMasterIdLst>
  <p:sldIdLst>
    <p:sldId xmlns:r="http://schemas.openxmlformats.org/officeDocument/2006/relationships" id="256" r:id="R300d52d6a0124082"/>
    <p:sldId xmlns:r="http://schemas.openxmlformats.org/officeDocument/2006/relationships" id="257" r:id="R3ccd370d4b4a4ef7"/>
    <p:sldId xmlns:r="http://schemas.openxmlformats.org/officeDocument/2006/relationships" id="258" r:id="R9a2ad05792344c13"/>
    <p:sldId xmlns:r="http://schemas.openxmlformats.org/officeDocument/2006/relationships" id="259" r:id="R3b3a52a5ae094d04"/>
    <p:sldId xmlns:r="http://schemas.openxmlformats.org/officeDocument/2006/relationships" id="260" r:id="R8ea0d5d6943c4a70"/>
    <p:sldId xmlns:r="http://schemas.openxmlformats.org/officeDocument/2006/relationships" id="261" r:id="Rebe5c639974b438e"/>
    <p:sldId xmlns:r="http://schemas.openxmlformats.org/officeDocument/2006/relationships" id="262" r:id="Rea2958ce41b742b0"/>
    <p:sldId xmlns:r="http://schemas.openxmlformats.org/officeDocument/2006/relationships" id="263" r:id="R8333ac7406b04016"/>
    <p:sldId xmlns:r="http://schemas.openxmlformats.org/officeDocument/2006/relationships" id="264" r:id="R6e2535f41cb34046"/>
    <p:sldId xmlns:r="http://schemas.openxmlformats.org/officeDocument/2006/relationships" id="265" r:id="R86587041b46e4d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38871fad174348" /><Relationship Type="http://schemas.openxmlformats.org/officeDocument/2006/relationships/slideMaster" Target="/ppt/slideMasters/slideMaster1.xml" Id="R0085527ff3d74018" /><Relationship Type="http://schemas.openxmlformats.org/officeDocument/2006/relationships/notesMaster" Target="/ppt/notesMasters/notesMaster1.xml" Id="R6aa1091c160543e8" /><Relationship Type="http://schemas.openxmlformats.org/officeDocument/2006/relationships/presProps" Target="/ppt/presProps.xml" Id="R58aad978000e4841" /><Relationship Type="http://schemas.openxmlformats.org/officeDocument/2006/relationships/tableStyles" Target="/ppt/tableStyles.xml" Id="Rd06d051c186c45ad" /><Relationship Type="http://schemas.openxmlformats.org/officeDocument/2006/relationships/slide" Target="/ppt/slides/slide1.xml" Id="R300d52d6a0124082" /><Relationship Type="http://schemas.openxmlformats.org/officeDocument/2006/relationships/slide" Target="/ppt/slides/slide2.xml" Id="R3ccd370d4b4a4ef7" /><Relationship Type="http://schemas.openxmlformats.org/officeDocument/2006/relationships/slide" Target="/ppt/slides/slide3.xml" Id="R9a2ad05792344c13" /><Relationship Type="http://schemas.openxmlformats.org/officeDocument/2006/relationships/slide" Target="/ppt/slides/slide4.xml" Id="R3b3a52a5ae094d04" /><Relationship Type="http://schemas.openxmlformats.org/officeDocument/2006/relationships/slide" Target="/ppt/slides/slide5.xml" Id="R8ea0d5d6943c4a70" /><Relationship Type="http://schemas.openxmlformats.org/officeDocument/2006/relationships/slide" Target="/ppt/slides/slide6.xml" Id="Rebe5c639974b438e" /><Relationship Type="http://schemas.openxmlformats.org/officeDocument/2006/relationships/slide" Target="/ppt/slides/slide7.xml" Id="Rea2958ce41b742b0" /><Relationship Type="http://schemas.openxmlformats.org/officeDocument/2006/relationships/slide" Target="/ppt/slides/slide8.xml" Id="R8333ac7406b04016" /><Relationship Type="http://schemas.openxmlformats.org/officeDocument/2006/relationships/slide" Target="/ppt/slides/slide9.xml" Id="R6e2535f41cb34046" /><Relationship Type="http://schemas.openxmlformats.org/officeDocument/2006/relationships/slide" Target="/ppt/slides/slide10.xml" Id="R86587041b46e4d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670ee918dd48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0f42957fa34b64" /><Relationship Type="http://schemas.openxmlformats.org/officeDocument/2006/relationships/notesMaster" Target="/ppt/notesMasters/notesMaster1.xml" Id="R7d8d1925019149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f72e0e860944d1" /><Relationship Type="http://schemas.openxmlformats.org/officeDocument/2006/relationships/notesMaster" Target="/ppt/notesMasters/notesMaster1.xml" Id="Rf7b1ebb4861743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1827f49d534515" /><Relationship Type="http://schemas.openxmlformats.org/officeDocument/2006/relationships/notesMaster" Target="/ppt/notesMasters/notesMaster1.xml" Id="Rb6990146085b4b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ac75f1480e4e41" /><Relationship Type="http://schemas.openxmlformats.org/officeDocument/2006/relationships/notesMaster" Target="/ppt/notesMasters/notesMaster1.xml" Id="R9524f8e103444f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a13b83847844b9" /><Relationship Type="http://schemas.openxmlformats.org/officeDocument/2006/relationships/notesMaster" Target="/ppt/notesMasters/notesMaster1.xml" Id="Rf1f34891fa6341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93f03113f34c44" /><Relationship Type="http://schemas.openxmlformats.org/officeDocument/2006/relationships/notesMaster" Target="/ppt/notesMasters/notesMaster1.xml" Id="R26bb52232c0b41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3407289d664c68" /><Relationship Type="http://schemas.openxmlformats.org/officeDocument/2006/relationships/notesMaster" Target="/ppt/notesMasters/notesMaster1.xml" Id="R0da89e0cf07c4f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913207b2b949b9" /><Relationship Type="http://schemas.openxmlformats.org/officeDocument/2006/relationships/notesMaster" Target="/ppt/notesMasters/notesMaster1.xml" Id="R7ec9b1e982314f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ce0a194abb4e88" /><Relationship Type="http://schemas.openxmlformats.org/officeDocument/2006/relationships/notesMaster" Target="/ppt/notesMasters/notesMaster1.xml" Id="Rbab8897256a748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f03c4e43ac4dcb" /><Relationship Type="http://schemas.openxmlformats.org/officeDocument/2006/relationships/notesMaster" Target="/ppt/notesMasters/notesMaster1.xml" Id="Rff1d4728e1f745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2f4199a61348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b04045e5884a6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d1ec4b9af48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ad6e57cf8742c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106421b32b41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d1cb71135149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b55b9f7f2e4ab4" /><Relationship Type="http://schemas.openxmlformats.org/officeDocument/2006/relationships/slideLayout" Target="/ppt/slideLayouts/slideLayout1.xml" Id="R7cf22785b72d4d03" /><Relationship Type="http://schemas.openxmlformats.org/officeDocument/2006/relationships/slideLayout" Target="/ppt/slideLayouts/slideLayout2.xml" Id="R7667c2e20ecb49b6" /><Relationship Type="http://schemas.openxmlformats.org/officeDocument/2006/relationships/slideLayout" Target="/ppt/slideLayouts/slideLayout3.xml" Id="Rf3eaab8d03eb4d08" /><Relationship Type="http://schemas.openxmlformats.org/officeDocument/2006/relationships/slideLayout" Target="/ppt/slideLayouts/slideLayout4.xml" Id="R5f0302dda1914bbd" /><Relationship Type="http://schemas.openxmlformats.org/officeDocument/2006/relationships/slideLayout" Target="/ppt/slideLayouts/slideLayout5.xml" Id="R6102d7aaa38b4f84" /><Relationship Type="http://schemas.openxmlformats.org/officeDocument/2006/relationships/slideLayout" Target="/ppt/slideLayouts/slideLayout6.xml" Id="R30dd33cbc6dd4c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f22785b72d4d03"/>
    <p:sldLayoutId xmlns:r="http://schemas.openxmlformats.org/officeDocument/2006/relationships" id="2147483650" r:id="R7667c2e20ecb49b6"/>
    <p:sldLayoutId xmlns:r="http://schemas.openxmlformats.org/officeDocument/2006/relationships" id="2147483651" r:id="Rf3eaab8d03eb4d08"/>
    <p:sldLayoutId xmlns:r="http://schemas.openxmlformats.org/officeDocument/2006/relationships" id="2147483652" r:id="R5f0302dda1914bbd"/>
    <p:sldLayoutId xmlns:r="http://schemas.openxmlformats.org/officeDocument/2006/relationships" id="2147483653" r:id="R6102d7aaa38b4f84"/>
    <p:sldLayoutId xmlns:r="http://schemas.openxmlformats.org/officeDocument/2006/relationships" id="2147483654" r:id="R30dd33cbc6dd4c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2bd76f659646b4" /><Relationship Type="http://schemas.openxmlformats.org/officeDocument/2006/relationships/notesSlide" Target="/ppt/notesSlides/notesSlide1.xml" Id="Rd6892a19222a4d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69b8ffb61f440f" /><Relationship Type="http://schemas.openxmlformats.org/officeDocument/2006/relationships/notesSlide" Target="/ppt/notesSlides/notesSlide2.xml" Id="Ra21fb4760b2747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6c36f3e43c4e90" /><Relationship Type="http://schemas.openxmlformats.org/officeDocument/2006/relationships/notesSlide" Target="/ppt/notesSlides/notesSlide3.xml" Id="Raddd01715deb41f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c0ac6e441f4644" /><Relationship Type="http://schemas.openxmlformats.org/officeDocument/2006/relationships/image" Target="/ppt/media/image.jpeg" Id="Ra9d13ff7244142cc" /><Relationship Type="http://schemas.openxmlformats.org/officeDocument/2006/relationships/notesSlide" Target="/ppt/notesSlides/notesSlide4.xml" Id="R73cdda3f819a40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f88bea521c469c" /><Relationship Type="http://schemas.openxmlformats.org/officeDocument/2006/relationships/image" Target="/ppt/media/image2.jpeg" Id="R557e9e186b4f47ca" /><Relationship Type="http://schemas.openxmlformats.org/officeDocument/2006/relationships/notesSlide" Target="/ppt/notesSlides/notesSlide5.xml" Id="Rd6779b0f37e54d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99a36b5208417f" /><Relationship Type="http://schemas.openxmlformats.org/officeDocument/2006/relationships/notesSlide" Target="/ppt/notesSlides/notesSlide6.xml" Id="Rb02eb282139b4b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8b4bb771634b28" /><Relationship Type="http://schemas.openxmlformats.org/officeDocument/2006/relationships/chart" Target="/ppt/slides/charts/chart1.xml" Id="R5c7137ba3ed64393" /><Relationship Type="http://schemas.openxmlformats.org/officeDocument/2006/relationships/notesSlide" Target="/ppt/notesSlides/notesSlide7.xml" Id="Re5bbe60ba5bc47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43bfd762c84f06" /><Relationship Type="http://schemas.openxmlformats.org/officeDocument/2006/relationships/image" Target="/ppt/media/image3.jpeg" Id="R076c93e4fdd2409b" /><Relationship Type="http://schemas.openxmlformats.org/officeDocument/2006/relationships/notesSlide" Target="/ppt/notesSlides/notesSlide8.xml" Id="R3ab1019bdaa34a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4beaa8f9c4410f" /><Relationship Type="http://schemas.openxmlformats.org/officeDocument/2006/relationships/notesSlide" Target="/ppt/notesSlides/notesSlide9.xml" Id="Rbcf1f4c214104e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3cc3150eaa46eb" /><Relationship Type="http://schemas.openxmlformats.org/officeDocument/2006/relationships/notesSlide" Target="/ppt/notesSlides/notesSlide10.xml" Id="R8a29a035a225491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Query latency</c:v>
          </c:tx>
          <c:spPr>
            <a:solidFill xmlns:a="http://schemas.openxmlformats.org/drawingml/2006/main">
              <a:srgbClr val="8B7CE8"/>
            </a:solidFill>
            <a:ln xmlns:a="http://schemas.openxmlformats.org/drawingml/2006/main" w="9525">
              <a:solidFill>
                <a:srgbClr val="8B7CE8"/>
              </a:solidFill>
              <a:prstDash val="solid"/>
            </a:ln>
          </c:spPr>
          <c:invertIfNegative val="0"/>
          <c:cat>
            <c:strRef>
              <c:f>'Chart Data'!$A$2:$A$8</c:f>
              <c:strCache>
                <c:ptCount val="7"/>
                <c:pt idx="0">
                  <c:v>Run 1</c:v>
                </c:pt>
                <c:pt idx="1">
                  <c:v>Run 2</c:v>
                </c:pt>
                <c:pt idx="2">
                  <c:v>Run 3</c:v>
                </c:pt>
                <c:pt idx="3">
                  <c:v>Run 4</c:v>
                </c:pt>
                <c:pt idx="4">
                  <c:v>Run 5</c:v>
                </c:pt>
                <c:pt idx="5">
                  <c:v>Run 6</c:v>
                </c:pt>
                <c:pt idx="6">
                  <c:v>Run 7</c:v>
                </c:pt>
              </c:strCache>
            </c:strRef>
          </c:cat>
          <c:val>
            <c:numRef>
              <c:f>'Chart Data'!$B$2:$B$8</c:f>
              <c:numCache>
                <c:formatCode>0</c:formatCode>
                <c:ptCount val="7"/>
                <c:pt idx="0">
                  <c:v>503.947</c:v>
                </c:pt>
                <c:pt idx="1">
                  <c:v>473.209</c:v>
                </c:pt>
                <c:pt idx="2">
                  <c:v>474.484</c:v>
                </c:pt>
                <c:pt idx="3">
                  <c:v>445.887</c:v>
                </c:pt>
                <c:pt idx="4">
                  <c:v>442.384</c:v>
                </c:pt>
                <c:pt idx="5">
                  <c:v>469.597</c:v>
                </c:pt>
                <c:pt idx="6">
                  <c:v>476.749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9AA7B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>
                    <a:solidFill>
                      <a:srgbClr val="7C89A3"/>
                    </a:solidFill>
                  </a:rPr>
                  <a:t>Query repetition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7C89A3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44506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C89A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550"/>
          <c:min val="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6324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>
                    <a:solidFill>
                      <a:srgbClr val="7C89A3"/>
                    </a:solidFill>
                  </a:rPr>
                  <a:t>Milliseconds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7C89A3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44506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C89A3"/>
                </a:solidFill>
              </a:defRPr>
            </a:pPr>
          </a:p>
        </c:txPr>
        <c:crossAx val="48650112"/>
        <c:crossBetween val="between"/>
        <c:majorUnit val="50"/>
      </c:valAx>
      <c:spPr>
        <a:solidFill xmlns:a="http://schemas.openxmlformats.org/drawingml/2006/main">
          <a:srgbClr val="000000">
            <a:alpha val="0"/>
          </a:srgbClr>
        </a:solidFill>
        <a:ln xmlns:a="http://schemas.openxmlformats.org/drawingml/2006/main" w="0">
          <a:solidFill>
            <a:srgbClr val="000000">
              <a:alpha val="0"/>
            </a:srgbClr>
          </a:solidFill>
          <a:prstDash val="solid"/>
        </a:ln>
      </c:spPr>
    </c:plotArea>
    <c:plotVisOnly val="1"/>
  </c:chart>
  <c:spPr>
    <a:solidFill xmlns:a="http://schemas.openxmlformats.org/drawingml/2006/main">
      <a:srgbClr val="000000">
        <a:alpha val="0"/>
      </a:srgbClr>
    </a:solidFill>
    <a:ln xmlns:a="http://schemas.openxmlformats.org/drawingml/2006/main" w="0">
      <a:solidFill>
        <a:srgbClr val="000000">
          <a:alpha val="0"/>
        </a:srgbClr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failure is visible. The explanation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engineer finds the run, compares row counts, searches logs, and decides what to inspect next.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Compare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verifies before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Expected benefit: fewer context switches. The impact study will measure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CAA2D-1088-4B72-9E57-64CE86CCFE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d13ff7244142cc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 across four demo incidents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Exasol connected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Trend from SQL view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Incidents selectable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12356-0DDC-4C7C-990A-BE9C32B573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e9e186b4f47ca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Expected: 100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Received: 80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Missing: 20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None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verification required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reads the view directly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C1EFA6-FCD6-4147-AC4D-E61EBB0C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322"/>
          </a:solidFill>
          <a:ln xmlns:a="http://schemas.openxmlformats.org/drawingml/2006/main" w="9525">
            <a:solidFill>
              <a:srgbClr val="34415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03A01-97C7-4126-A9BB-E311B533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SQL QUERY FOR GET /analytics/trend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61206-445B-4DC9-8780-90766354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67000"/>
            <a:ext cx="504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defPPr>
            <a:lvl1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SELECT TO_CHAR(RUN_TIME, 'YYYY-MM-DD') AS RUN_DAY,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COUNT(*) AS TOTAL_RUNS,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SUM(CASE WHEN RUN_STATUS = 'FAILED'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  OR EXPECTED_ROWS &gt; ACTUAL_ROWS THEN 1 ELSE 0 END)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  AS INCIDENT_COUNT,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       ROUND(AVG(COMPLETENESS_PCT), 1) AS AVG_COMPLETE_PCT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FROM OPSINTEL.PIPELINE_HEALTH_FEATURES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D7DEEF"/>
                </a:solidFill>
                <a:latin typeface="Courier New"/>
                <a:ea typeface="Courier New"/>
                <a:cs typeface="Courier New"/>
              </a:rPr>
              <a:t>GROUP BY TO_CHAR(RUN_TIME, 'YYYY-MM-DD');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BFB13-FA7F-4F3B-A7FD-C328B0D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1435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13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13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reads this view result directly. Exasol keeps the window calculations beside the run history.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query-output-label">
            <a:extLst xmlns:a="http://schemas.openxmlformats.org/drawingml/2006/main">
              <a:ext uri="{FF2B5EF4-FFF2-40B4-BE49-F238E27FC236}">
                <a16:creationId xmlns:a16="http://schemas.microsoft.com/office/drawing/2014/main" id="{B2869ADF-8687-48CA-B478-CE10458E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2910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l"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LOCAL EXASOL RESULT</a:t>
            </a:r>
          </a:p>
        </p:txBody>
      </p:sp>
      <p:sp>
        <p:nvSpPr>
          <p:cNvPr id="23" name="query-output">
            <a:extLst xmlns:a="http://schemas.openxmlformats.org/drawingml/2006/main">
              <a:ext uri="{FF2B5EF4-FFF2-40B4-BE49-F238E27FC236}">
                <a16:creationId xmlns:a16="http://schemas.microsoft.com/office/drawing/2014/main" id="{F47A54F9-3916-4C1B-AA40-64BF6259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67225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88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2026-10-15: 5 runs, 4 incidents</a:t>
            </a:r>
          </a:p>
          <a:p xmlns:a="http://schemas.openxmlformats.org/drawingml/2006/main">
            <a:pPr algn="l">
              <a:buNone/>
              <a:defRPr sz="1088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Average completeness: 56.0%</a:t>
            </a:r>
          </a:p>
          <a:p xmlns:a="http://schemas.openxmlformats.org/drawingml/2006/main">
            <a:pPr algn="l">
              <a:buNone/>
              <a:defRPr sz="1088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rate: 16.0%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MEASURED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1,000,000 synthetic run rows: 473 ms median and 504 ms p95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473 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median analytical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60/60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16 /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predefined synthetic challenge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3.025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1,000,000-row import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Records: reports/exasol-benchmark.json. Reproduce with scripts/benchmark_exasol.py, pytest -q, and tests/run_evaluation.py. Local single-user, 7 repeats. No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C8215E21-72A0-40F6-BBCD-F703CDA61262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7137ba3ed64393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540A3-F5CB-4A83-B9F7-432254BC88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c93e4fdd2409b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unclassified. Optional summary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One-million-row benchmark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60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Optional structured LLM summary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Reviewer holdout protocol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Frozen-commit process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</a:t>
            </a: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Human impact study runner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LLM summary quality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Orchestrator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No independent holdout result or measured productivity improvement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one incident, five observations, one safe next 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2026-10-19T04:21:52.3180000Z</dcterms:created>
  <dcterms:modified xsi:type="dcterms:W3CDTF">2026-10-19T04:21:52.3180000Z</dcterms:modified>
</coreProperties>
</file>