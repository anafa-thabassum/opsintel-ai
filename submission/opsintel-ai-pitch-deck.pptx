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db4a6235a3421e" /><Relationship Type="http://schemas.openxmlformats.org/officeDocument/2006/relationships/extended-properties" Target="/docProps/app.xml" Id="R1c40f807b1c34d97" /><Relationship Type="http://schemas.openxmlformats.org/officeDocument/2006/relationships/officeDocument" Target="/ppt/presentation.xml" Id="Rf39673cc88894c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5ebd297aeb441f"/>
  </p:sldMasterIdLst>
  <p:notesMasterIdLst>
    <p:notesMasterId xmlns:r="http://schemas.openxmlformats.org/officeDocument/2006/relationships" r:id="R9c70cd565e484b3b"/>
  </p:notesMasterIdLst>
  <p:sldIdLst>
    <p:sldId xmlns:r="http://schemas.openxmlformats.org/officeDocument/2006/relationships" id="256" r:id="R7d36aca5d8334330"/>
    <p:sldId xmlns:r="http://schemas.openxmlformats.org/officeDocument/2006/relationships" id="257" r:id="Rf16b453ca3a94197"/>
    <p:sldId xmlns:r="http://schemas.openxmlformats.org/officeDocument/2006/relationships" id="258" r:id="R9d7e87fc9231444f"/>
    <p:sldId xmlns:r="http://schemas.openxmlformats.org/officeDocument/2006/relationships" id="259" r:id="Rddbddd27adb84bf9"/>
    <p:sldId xmlns:r="http://schemas.openxmlformats.org/officeDocument/2006/relationships" id="260" r:id="Rb285c702727d4deb"/>
    <p:sldId xmlns:r="http://schemas.openxmlformats.org/officeDocument/2006/relationships" id="261" r:id="Rfa176320faf647bd"/>
    <p:sldId xmlns:r="http://schemas.openxmlformats.org/officeDocument/2006/relationships" id="262" r:id="R7961aabb00d64bd9"/>
    <p:sldId xmlns:r="http://schemas.openxmlformats.org/officeDocument/2006/relationships" id="263" r:id="R3488612cb7f041bb"/>
    <p:sldId xmlns:r="http://schemas.openxmlformats.org/officeDocument/2006/relationships" id="264" r:id="R19daee06c75e444c"/>
    <p:sldId xmlns:r="http://schemas.openxmlformats.org/officeDocument/2006/relationships" id="265" r:id="R0ddafb07b86c4559"/>
    <p:sldId xmlns:r="http://schemas.openxmlformats.org/officeDocument/2006/relationships" id="266" r:id="Rccdb794e2c6140d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155c974fe24141" /><Relationship Type="http://schemas.openxmlformats.org/officeDocument/2006/relationships/slideMaster" Target="/ppt/slideMasters/slideMaster1.xml" Id="R575ebd297aeb441f" /><Relationship Type="http://schemas.openxmlformats.org/officeDocument/2006/relationships/notesMaster" Target="/ppt/notesMasters/notesMaster1.xml" Id="R9c70cd565e484b3b" /><Relationship Type="http://schemas.openxmlformats.org/officeDocument/2006/relationships/presProps" Target="/ppt/presProps.xml" Id="R781e2d90efa34acc" /><Relationship Type="http://schemas.openxmlformats.org/officeDocument/2006/relationships/tableStyles" Target="/ppt/tableStyles.xml" Id="R4f5db0426ab34898" /><Relationship Type="http://schemas.openxmlformats.org/officeDocument/2006/relationships/slide" Target="/ppt/slides/slide1.xml" Id="R7d36aca5d8334330" /><Relationship Type="http://schemas.openxmlformats.org/officeDocument/2006/relationships/slide" Target="/ppt/slides/slide2.xml" Id="Rf16b453ca3a94197" /><Relationship Type="http://schemas.openxmlformats.org/officeDocument/2006/relationships/slide" Target="/ppt/slides/slide3.xml" Id="R9d7e87fc9231444f" /><Relationship Type="http://schemas.openxmlformats.org/officeDocument/2006/relationships/slide" Target="/ppt/slides/slide4.xml" Id="Rddbddd27adb84bf9" /><Relationship Type="http://schemas.openxmlformats.org/officeDocument/2006/relationships/slide" Target="/ppt/slides/slide5.xml" Id="Rb285c702727d4deb" /><Relationship Type="http://schemas.openxmlformats.org/officeDocument/2006/relationships/slide" Target="/ppt/slides/slide6.xml" Id="Rfa176320faf647bd" /><Relationship Type="http://schemas.openxmlformats.org/officeDocument/2006/relationships/slide" Target="/ppt/slides/slide7.xml" Id="R7961aabb00d64bd9" /><Relationship Type="http://schemas.openxmlformats.org/officeDocument/2006/relationships/slide" Target="/ppt/slides/slide8.xml" Id="R3488612cb7f041bb" /><Relationship Type="http://schemas.openxmlformats.org/officeDocument/2006/relationships/slide" Target="/ppt/slides/slide9.xml" Id="R19daee06c75e444c" /><Relationship Type="http://schemas.openxmlformats.org/officeDocument/2006/relationships/slide" Target="/ppt/slides/slide10.xml" Id="R0ddafb07b86c4559" /><Relationship Type="http://schemas.openxmlformats.org/officeDocument/2006/relationships/slide" Target="/ppt/slides/slide11.xml" Id="Rccdb794e2c6140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84f2ae1a4846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6de1fb46314dbe" /><Relationship Type="http://schemas.openxmlformats.org/officeDocument/2006/relationships/notesMaster" Target="/ppt/notesMasters/notesMaster1.xml" Id="Ra0956e5500ab40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7611df2b364617" /><Relationship Type="http://schemas.openxmlformats.org/officeDocument/2006/relationships/notesMaster" Target="/ppt/notesMasters/notesMaster1.xml" Id="R13bbfbd7943844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ad8ffb3b384300" /><Relationship Type="http://schemas.openxmlformats.org/officeDocument/2006/relationships/notesMaster" Target="/ppt/notesMasters/notesMaster1.xml" Id="Rb297721663004f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9d5461075f4b16" /><Relationship Type="http://schemas.openxmlformats.org/officeDocument/2006/relationships/notesMaster" Target="/ppt/notesMasters/notesMaster1.xml" Id="R566a2f738ba042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8d5d295516411d" /><Relationship Type="http://schemas.openxmlformats.org/officeDocument/2006/relationships/notesMaster" Target="/ppt/notesMasters/notesMaster1.xml" Id="R9365bef687da4a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6a50688bebd43c5" /><Relationship Type="http://schemas.openxmlformats.org/officeDocument/2006/relationships/notesMaster" Target="/ppt/notesMasters/notesMaster1.xml" Id="R76df636513594c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ed49e749f842d3" /><Relationship Type="http://schemas.openxmlformats.org/officeDocument/2006/relationships/notesMaster" Target="/ppt/notesMasters/notesMaster1.xml" Id="R493b33c550c04e0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c840cfe59f430b" /><Relationship Type="http://schemas.openxmlformats.org/officeDocument/2006/relationships/notesMaster" Target="/ppt/notesMasters/notesMaster1.xml" Id="R70351b26f2f7468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d5980d151c4473" /><Relationship Type="http://schemas.openxmlformats.org/officeDocument/2006/relationships/notesMaster" Target="/ppt/notesMasters/notesMaster1.xml" Id="R8fe850c30b874ff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e8ce86013b49c1" /><Relationship Type="http://schemas.openxmlformats.org/officeDocument/2006/relationships/notesMaster" Target="/ppt/notesMasters/notesMaster1.xml" Id="R4193dc3fc615479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450004d9cb246a6" /><Relationship Type="http://schemas.openxmlformats.org/officeDocument/2006/relationships/notesMaster" Target="/ppt/notesMasters/notesMaster1.xml" Id="R8cabc87665ef48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ExaThon India 2026 Track 04 submission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architecture; app/db.py; app/main.py; app/investigator.py; app/llm.py; frontend/src/App.jsx. Deterministic rules produce classifications and candidates. The optional OpenAI Responses API integration receives only bounded evidence and candidates, returns a structured narrative and evidence gaps, and is disabled by default. It cannot confirm a root cause or execute a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docs/images/dashboard-overview.png; frontend/src/App.jsx totalMissing calculation; sql/seed.sql. Missing rows total 20 + 0 + 200 + 1000 = 1,220 across four demo incidents.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app/db.py get_pipeline_trend; app/main.py analytics_trend; frontend/src/App.jsx. A live local Exasol query returned 2026-10-15, 5 runs, 4 incidents, 56.0% average completeness, and 16.0% average rolling failure rate. The frontend fetches /analytics/trend, whose handler calls get_pipeline_trend against OPSINTEL.PIPELINE_HEALTH_FEATURES.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reports/evaluation.md; scripts/benchmark_exasol.py; tests/run_evaluation.py; tests/test_llm.py. Benchmark: 1,000,000 imported synthetic run rows, 20 pipelines, 7 query repetitions, 473.209 ms median, 503.947 ms nearest-rank p95, 3.025 s import. Verification: 49 tests and 16/16 predefined synthetic cases. Local single-user result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 assess_root_causes and investigate_pipeline; app/llm.py; tests/run_evaluation.py; tests/test_llm.py. The unknown worker-exit case remains unclassified. The optional summary cannot change confirmed_root_cause, and model or network failure leaves the deterministic investigation available. No repair is executed.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evaluation/README.md; evaluation/holdout_template.csv; reports/impact-study-protocol.md; reports/evaluation.md; docs/deployment.md. Holdout, human impact, clean-clone, and independent LLM summary-quality results remain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8b6749f0ec46b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ea592b22ff42f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025f44ab5c43c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5a61e75fa2474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aacd2fb026427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207f97f0de41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550e6e14f54cc1" /><Relationship Type="http://schemas.openxmlformats.org/officeDocument/2006/relationships/slideLayout" Target="/ppt/slideLayouts/slideLayout1.xml" Id="R973bccf60cda493a" /><Relationship Type="http://schemas.openxmlformats.org/officeDocument/2006/relationships/slideLayout" Target="/ppt/slideLayouts/slideLayout2.xml" Id="R3f2fdd08c529411e" /><Relationship Type="http://schemas.openxmlformats.org/officeDocument/2006/relationships/slideLayout" Target="/ppt/slideLayouts/slideLayout3.xml" Id="R8a983c900a164190" /><Relationship Type="http://schemas.openxmlformats.org/officeDocument/2006/relationships/slideLayout" Target="/ppt/slideLayouts/slideLayout4.xml" Id="R18a97f69ce5441c8" /><Relationship Type="http://schemas.openxmlformats.org/officeDocument/2006/relationships/slideLayout" Target="/ppt/slideLayouts/slideLayout5.xml" Id="R0fc99665854c4ce5" /><Relationship Type="http://schemas.openxmlformats.org/officeDocument/2006/relationships/slideLayout" Target="/ppt/slideLayouts/slideLayout6.xml" Id="Reae25f3096b342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3bccf60cda493a"/>
    <p:sldLayoutId xmlns:r="http://schemas.openxmlformats.org/officeDocument/2006/relationships" id="2147483650" r:id="R3f2fdd08c529411e"/>
    <p:sldLayoutId xmlns:r="http://schemas.openxmlformats.org/officeDocument/2006/relationships" id="2147483651" r:id="R8a983c900a164190"/>
    <p:sldLayoutId xmlns:r="http://schemas.openxmlformats.org/officeDocument/2006/relationships" id="2147483652" r:id="R18a97f69ce5441c8"/>
    <p:sldLayoutId xmlns:r="http://schemas.openxmlformats.org/officeDocument/2006/relationships" id="2147483653" r:id="R0fc99665854c4ce5"/>
    <p:sldLayoutId xmlns:r="http://schemas.openxmlformats.org/officeDocument/2006/relationships" id="2147483654" r:id="Reae25f3096b342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97262b6ac14d8f" /><Relationship Type="http://schemas.openxmlformats.org/officeDocument/2006/relationships/notesSlide" Target="/ppt/notesSlides/notesSlide1.xml" Id="Re39986c2440f4b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055c1ae9534b75" /><Relationship Type="http://schemas.openxmlformats.org/officeDocument/2006/relationships/notesSlide" Target="/ppt/notesSlides/notesSlide2.xml" Id="R28e68361016443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2b0d3186af4e60" /><Relationship Type="http://schemas.openxmlformats.org/officeDocument/2006/relationships/notesSlide" Target="/ppt/notesSlides/notesSlide3.xml" Id="R825b92cf0c884d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7da4abaa8744e7" /><Relationship Type="http://schemas.openxmlformats.org/officeDocument/2006/relationships/image" Target="/ppt/media/image.jpeg" Id="R01afcf60a5ee422e" /><Relationship Type="http://schemas.openxmlformats.org/officeDocument/2006/relationships/notesSlide" Target="/ppt/notesSlides/notesSlide4.xml" Id="Rf9714561b2af49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02e32f14a04178" /><Relationship Type="http://schemas.openxmlformats.org/officeDocument/2006/relationships/image" Target="/ppt/media/image2.jpeg" Id="Rc0aa3e1413554bbe" /><Relationship Type="http://schemas.openxmlformats.org/officeDocument/2006/relationships/notesSlide" Target="/ppt/notesSlides/notesSlide5.xml" Id="R3d63ca5721994e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e1269b4dc141ef" /><Relationship Type="http://schemas.openxmlformats.org/officeDocument/2006/relationships/notesSlide" Target="/ppt/notesSlides/notesSlide6.xml" Id="R5b0236ac007548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31589eee534ec0" /><Relationship Type="http://schemas.openxmlformats.org/officeDocument/2006/relationships/notesSlide" Target="/ppt/notesSlides/notesSlide7.xml" Id="Ra71541e0b01e439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e0d76527ee4a5b" /><Relationship Type="http://schemas.openxmlformats.org/officeDocument/2006/relationships/chart" Target="/ppt/slides/charts/chart1.xml" Id="Rca6c4f60efe040c4" /><Relationship Type="http://schemas.openxmlformats.org/officeDocument/2006/relationships/notesSlide" Target="/ppt/notesSlides/notesSlide8.xml" Id="R98fd7f22a62743a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47fda29c5e4d9d" /><Relationship Type="http://schemas.openxmlformats.org/officeDocument/2006/relationships/image" Target="/ppt/media/image3.jpeg" Id="R4800270d28914bcc" /><Relationship Type="http://schemas.openxmlformats.org/officeDocument/2006/relationships/notesSlide" Target="/ppt/notesSlides/notesSlide9.xml" Id="R66d35094e33d43b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4b9832b1ae4e43" /><Relationship Type="http://schemas.openxmlformats.org/officeDocument/2006/relationships/notesSlide" Target="/ppt/notesSlides/notesSlide10.xml" Id="R96736476d7e445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ce589946be4469" /><Relationship Type="http://schemas.openxmlformats.org/officeDocument/2006/relationships/notesSlide" Target="/ppt/notesSlides/notesSlide11.xml" Id="Rb01eb13097eb4f5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Median latency (ms)</c:v>
          </c:tx>
          <c:spPr>
            <a:solidFill xmlns:a="http://schemas.openxmlformats.org/drawingml/2006/main">
              <a:srgbClr val="9B8CFF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Exasol 1M</c:v>
                </c:pt>
                <c:pt idx="1">
                  <c:v>DuckDB 1M</c:v>
                </c:pt>
                <c:pt idx="2">
                  <c:v>Exasol 10M</c:v>
                </c:pt>
                <c:pt idx="3">
                  <c:v>DuckDB 10M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437.118</c:v>
                </c:pt>
                <c:pt idx="1">
                  <c:v>114.912</c:v>
                </c:pt>
                <c:pt idx="2">
                  <c:v>4902.269</c:v>
                </c:pt>
                <c:pt idx="3">
                  <c:v>1080.358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D7DEE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825">
                    <a:solidFill>
                      <a:srgbClr val="9AA5BD"/>
                    </a:solidFill>
                  </a:rPr>
                  <a:t>Engine and workload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9AA5BD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4415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9AA5B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52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7314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825">
                    <a:solidFill>
                      <a:srgbClr val="9AA5BD"/>
                    </a:solidFill>
                  </a:rPr>
                  <a:t>Median latency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9AA5BD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4415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9AA5BD"/>
                </a:solidFill>
              </a:defRPr>
            </a:pPr>
          </a:p>
        </c:txPr>
        <c:crossAx val="48650112"/>
        <c:crossBetween val="between"/>
        <c:majorUnit val="1000"/>
      </c:valAx>
      <c:spPr>
        <a:solidFill xmlns:a="http://schemas.openxmlformats.org/drawingml/2006/main">
          <a:srgbClr val="090C14"/>
        </a:solidFill>
        <a:ln xmlns:a="http://schemas.openxmlformats.org/drawingml/2006/main" w="0">
          <a:solidFill>
            <a:srgbClr val="090C14"/>
          </a:solidFill>
          <a:prstDash val="solid"/>
        </a:ln>
      </c:spPr>
    </c:plotArea>
    <c:plotVisOnly val="1"/>
  </c:chart>
  <c:spPr>
    <a:solidFill xmlns:a="http://schemas.openxmlformats.org/drawingml/2006/main">
      <a:srgbClr val="090C14"/>
    </a:solidFill>
    <a:ln xmlns:a="http://schemas.openxmlformats.org/drawingml/2006/main" w="0">
      <a:solidFill>
        <a:srgbClr val="090C14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Evidence-based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From failed overnight run to traceable next action - powered by Exasol Personal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At 3:07 a.m., the alert says failed. The evidence is scattered.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 lives in separate views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This run expected 100 rows but received 80. The engineer still searches separate run, count, and log views.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facts separate from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System abstains until a human verifies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435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No time saving is claimed yet. The prepared study measures investigation time and evidence selection.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flows through Exasol, FastAPI, and the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Engineer verifies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confirms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Rules produce the category and candidates. The optional LLM only summarizes retrieved evidence. Confirmation and repairs stay human-controlled.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LIVE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dashboard reads incident telemetry calculated in Exasol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158501-9C09-4B51-ADC9-A316FF53B2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afcf60a5ee422e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 the captured 4-case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Captured baseline: 4 incidents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Current seed: 11 incident scenarios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All values are synthetic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C4FD2E-F53D-44B0-9260-B3F3E6923A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aa3e1413554bbe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04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Expected: 100 rows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Received: 80 rows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Missing: 20 rows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HUMAN 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Not yet verified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 automated repair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Parallel in-memory SQL execution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verified-query-panel">
            <a:extLst xmlns:a="http://schemas.openxmlformats.org/drawingml/2006/main">
              <a:ext uri="{FF2B5EF4-FFF2-40B4-BE49-F238E27FC236}">
                <a16:creationId xmlns:a16="http://schemas.microsoft.com/office/drawing/2014/main" id="{33216510-30A7-404A-8452-048BBEE7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34415D"/>
            </a:solidFill>
            <a:prstDash val="solid"/>
          </a:ln>
        </p:spPr>
      </p:sp>
      <p:sp>
        <p:nvSpPr>
          <p:cNvPr id="23" name="verified-query-title">
            <a:extLst xmlns:a="http://schemas.openxmlformats.org/drawingml/2006/main">
              <a:ext uri="{FF2B5EF4-FFF2-40B4-BE49-F238E27FC236}">
                <a16:creationId xmlns:a16="http://schemas.microsoft.com/office/drawing/2014/main" id="{FE72BC8C-8EDF-4D45-A594-44BF8BBB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QUERY USED BY GET /analytics/trend</a:t>
            </a:r>
          </a:p>
        </p:txBody>
      </p:sp>
      <p:sp>
        <p:nvSpPr>
          <p:cNvPr id="24" name="verified-query">
            <a:extLst xmlns:a="http://schemas.openxmlformats.org/drawingml/2006/main">
              <a:ext uri="{FF2B5EF4-FFF2-40B4-BE49-F238E27FC236}">
                <a16:creationId xmlns:a16="http://schemas.microsoft.com/office/drawing/2014/main" id="{8629D6B4-E3B0-4391-AC32-51939178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9911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defPPr>
            <a:lvl1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1pPr>
            <a:lvl2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2pPr>
            <a:lvl3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3pPr>
            <a:lvl4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4pPr>
            <a:lvl5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5pPr>
            <a:lvl6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6pPr>
            <a:lvl7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7pPr>
            <a:lvl8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8pPr>
            <a:lvl9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SELECT RUN_DAY, COUNT(*) AS TOTAL_RUNS,</a:t>
            </a:r>
          </a:p>
          <a:p xmlns:a="http://schemas.openxmlformats.org/drawingml/2006/main">
            <a: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SUM(IS_INCIDENT) AS INCIDENT_COUNT,</a:t>
            </a:r>
          </a:p>
          <a:p xmlns:a="http://schemas.openxmlformats.org/drawingml/2006/main">
            <a: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ROUND(AVG(COMPLETENESS_PCT), 1) AS AVG_COMPLETE</a:t>
            </a:r>
          </a:p>
          <a:p xmlns:a="http://schemas.openxmlformats.org/drawingml/2006/main">
            <a: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FROM OPSINTEL.PIPELINE_HEALTH_FEATURES</a:t>
            </a:r>
          </a:p>
          <a:p xmlns:a="http://schemas.openxmlformats.org/drawingml/2006/main">
            <a: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GROUP BY RUN_DAY;</a:t>
            </a:r>
          </a:p>
        </p:txBody>
      </p:sp>
      <p:sp>
        <p:nvSpPr>
          <p:cNvPr id="25" name="query-divider">
            <a:extLst xmlns:a="http://schemas.openxmlformats.org/drawingml/2006/main">
              <a:ext uri="{FF2B5EF4-FFF2-40B4-BE49-F238E27FC236}">
                <a16:creationId xmlns:a16="http://schemas.microsoft.com/office/drawing/2014/main" id="{9C955A80-8ED9-407E-BE0B-2D172E24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48125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3149"/>
            </a:solidFill>
            <a:prstDash val="solid"/>
          </a:ln>
        </p:spPr>
      </p:sp>
      <p:sp>
        <p:nvSpPr>
          <p:cNvPr id="26" name="verified-result-label">
            <a:extLst xmlns:a="http://schemas.openxmlformats.org/drawingml/2006/main">
              <a:ext uri="{FF2B5EF4-FFF2-40B4-BE49-F238E27FC236}">
                <a16:creationId xmlns:a16="http://schemas.microsoft.com/office/drawing/2014/main" id="{3D673C3E-5C86-4639-BAA4-CCE63A02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95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CURRENT SEED · LIVE EXASOL OUTPUT</a:t>
            </a:r>
          </a:p>
        </p:txBody>
      </p:sp>
      <p:sp>
        <p:nvSpPr>
          <p:cNvPr id="27" name="verified-result-metrics">
            <a:extLst xmlns:a="http://schemas.openxmlformats.org/drawingml/2006/main">
              <a:ext uri="{FF2B5EF4-FFF2-40B4-BE49-F238E27FC236}">
                <a16:creationId xmlns:a16="http://schemas.microsoft.com/office/drawing/2014/main" id="{03630B6C-26EA-4980-9677-87674AA6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12 runs  ·  11 incidents  ·  64.1% average completeness</a:t>
            </a:r>
          </a:p>
        </p:txBody>
      </p:sp>
      <p:sp>
        <p:nvSpPr>
          <p:cNvPr id="28" name="verified-result-note">
            <a:extLst xmlns:a="http://schemas.openxmlformats.org/drawingml/2006/main">
              <a:ext uri="{FF2B5EF4-FFF2-40B4-BE49-F238E27FC236}">
                <a16:creationId xmlns:a16="http://schemas.microsoft.com/office/drawing/2014/main" id="{176A5CC8-C0C2-48A6-A340-0890F102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9AA5BD"/>
                </a:solidFill>
                <a:latin typeface="Arial"/>
                <a:ea typeface="Arial"/>
                <a:cs typeface="Arial"/>
              </a:rPr>
              <a:t>GET /analytics/trend reads this view directly. The current seed output was verified against Exasol Personal.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apability-eyebrow">
            <a:extLst xmlns:a="http://schemas.openxmlformats.org/drawingml/2006/main">
              <a:ext uri="{FF2B5EF4-FFF2-40B4-BE49-F238E27FC236}">
                <a16:creationId xmlns:a16="http://schemas.microsoft.com/office/drawing/2014/main" id="{A7A0DB6C-1E7F-460F-BBC1-174CBA23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EXASOL FINDS THE SHARED FAILURE</a:t>
            </a:r>
          </a:p>
        </p:txBody>
      </p:sp>
      <p:sp>
        <p:nvSpPr>
          <p:cNvPr id="2" name="capability-title">
            <a:extLst xmlns:a="http://schemas.openxmlformats.org/drawingml/2006/main">
              <a:ext uri="{FF2B5EF4-FFF2-40B4-BE49-F238E27FC236}">
                <a16:creationId xmlns:a16="http://schemas.microsoft.com/office/drawing/2014/main" id="{6C9C34D8-DA85-468D-BCB9-69412FB3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One upstream failure explains three downstream incidents</a:t>
            </a:r>
          </a:p>
        </p:txBody>
      </p:sp>
      <p:sp>
        <p:nvSpPr>
          <p:cNvPr id="3" name="capability-card-01">
            <a:extLst xmlns:a="http://schemas.openxmlformats.org/drawingml/2006/main">
              <a:ext uri="{FF2B5EF4-FFF2-40B4-BE49-F238E27FC236}">
                <a16:creationId xmlns:a16="http://schemas.microsoft.com/office/drawing/2014/main" id="{0B0D26DB-0ADE-45B3-8181-6BB3DA68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61D9F7"/>
            </a:solidFill>
            <a:prstDash val="solid"/>
          </a:ln>
        </p:spPr>
      </p:sp>
      <p:sp>
        <p:nvSpPr>
          <p:cNvPr id="4" name="capability-number-01">
            <a:extLst xmlns:a="http://schemas.openxmlformats.org/drawingml/2006/main">
              <a:ext uri="{FF2B5EF4-FFF2-40B4-BE49-F238E27FC236}">
                <a16:creationId xmlns:a16="http://schemas.microsoft.com/office/drawing/2014/main" id="{076C3E8E-D95B-42A4-8F1E-33717C41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capability-title-01">
            <a:extLst xmlns:a="http://schemas.openxmlformats.org/drawingml/2006/main">
              <a:ext uri="{FF2B5EF4-FFF2-40B4-BE49-F238E27FC236}">
                <a16:creationId xmlns:a16="http://schemas.microsoft.com/office/drawing/2014/main" id="{BE4E7170-B334-41D0-89DA-072DEDC9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Window analytics at scale</a:t>
            </a:r>
          </a:p>
        </p:txBody>
      </p:sp>
      <p:sp>
        <p:nvSpPr>
          <p:cNvPr id="6" name="capability-body-01">
            <a:extLst xmlns:a="http://schemas.openxmlformats.org/drawingml/2006/main">
              <a:ext uri="{FF2B5EF4-FFF2-40B4-BE49-F238E27FC236}">
                <a16:creationId xmlns:a16="http://schemas.microsoft.com/office/drawing/2014/main" id="{94F0FBF6-9949-4AE7-856A-733767AC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LAG, rolling baselines and failure rates compare each run with recent history inside Exasol.</a:t>
            </a:r>
          </a:p>
        </p:txBody>
      </p:sp>
      <p:sp>
        <p:nvSpPr>
          <p:cNvPr id="7" name="capability-card-02">
            <a:extLst xmlns:a="http://schemas.openxmlformats.org/drawingml/2006/main">
              <a:ext uri="{FF2B5EF4-FFF2-40B4-BE49-F238E27FC236}">
                <a16:creationId xmlns:a16="http://schemas.microsoft.com/office/drawing/2014/main" id="{E35A2293-B644-445D-B69A-F2B1A6FB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9B8CFF"/>
            </a:solidFill>
            <a:prstDash val="solid"/>
          </a:ln>
        </p:spPr>
      </p:sp>
      <p:sp>
        <p:nvSpPr>
          <p:cNvPr id="8" name="capability-number-02">
            <a:extLst xmlns:a="http://schemas.openxmlformats.org/drawingml/2006/main">
              <a:ext uri="{FF2B5EF4-FFF2-40B4-BE49-F238E27FC236}">
                <a16:creationId xmlns:a16="http://schemas.microsoft.com/office/drawing/2014/main" id="{7F61B0DE-B4A6-4B05-9124-7ACA4B67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capability-title-02">
            <a:extLst xmlns:a="http://schemas.openxmlformats.org/drawingml/2006/main">
              <a:ext uri="{FF2B5EF4-FFF2-40B4-BE49-F238E27FC236}">
                <a16:creationId xmlns:a16="http://schemas.microsoft.com/office/drawing/2014/main" id="{077EECEC-04F3-4FAD-9C72-BA593F3F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Failure cascade</a:t>
            </a:r>
          </a:p>
        </p:txBody>
      </p:sp>
      <p:sp>
        <p:nvSpPr>
          <p:cNvPr id="10" name="capability-body-02">
            <a:extLst xmlns:a="http://schemas.openxmlformats.org/drawingml/2006/main">
              <a:ext uri="{FF2B5EF4-FFF2-40B4-BE49-F238E27FC236}">
                <a16:creationId xmlns:a16="http://schemas.microsoft.com/office/drawing/2014/main" id="{70F359FA-56C6-4625-B973-A1AD46BD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CONNECT BY traverses pipeline dependencies so one upstream failure can explain several downstream incidents.</a:t>
            </a:r>
          </a:p>
        </p:txBody>
      </p:sp>
      <p:sp>
        <p:nvSpPr>
          <p:cNvPr id="11" name="capability-card-03">
            <a:extLst xmlns:a="http://schemas.openxmlformats.org/drawingml/2006/main">
              <a:ext uri="{FF2B5EF4-FFF2-40B4-BE49-F238E27FC236}">
                <a16:creationId xmlns:a16="http://schemas.microsoft.com/office/drawing/2014/main" id="{E45C2FE8-9415-4269-96BE-A3ADC320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58DDB0"/>
            </a:solidFill>
            <a:prstDash val="solid"/>
          </a:ln>
        </p:spPr>
      </p:sp>
      <p:sp>
        <p:nvSpPr>
          <p:cNvPr id="12" name="capability-number-03">
            <a:extLst xmlns:a="http://schemas.openxmlformats.org/drawingml/2006/main">
              <a:ext uri="{FF2B5EF4-FFF2-40B4-BE49-F238E27FC236}">
                <a16:creationId xmlns:a16="http://schemas.microsoft.com/office/drawing/2014/main" id="{755449D3-1CDA-4A6B-9A07-49425105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capability-title-03">
            <a:extLst xmlns:a="http://schemas.openxmlformats.org/drawingml/2006/main">
              <a:ext uri="{FF2B5EF4-FFF2-40B4-BE49-F238E27FC236}">
                <a16:creationId xmlns:a16="http://schemas.microsoft.com/office/drawing/2014/main" id="{7836BFBC-B511-413E-B1BB-382B0346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layer</a:t>
            </a:r>
          </a:p>
        </p:txBody>
      </p:sp>
      <p:sp>
        <p:nvSpPr>
          <p:cNvPr id="14" name="capability-body-03">
            <a:extLst xmlns:a="http://schemas.openxmlformats.org/drawingml/2006/main">
              <a:ext uri="{FF2B5EF4-FFF2-40B4-BE49-F238E27FC236}">
                <a16:creationId xmlns:a16="http://schemas.microsoft.com/office/drawing/2014/main" id="{19D49740-D9A8-4098-A84F-635B779A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returns the same SQL-derived metrics and source records that judges can inspect in the dashboard.</a:t>
            </a:r>
          </a:p>
        </p:txBody>
      </p:sp>
      <p:sp>
        <p:nvSpPr>
          <p:cNvPr id="15" name="cascade-label">
            <a:extLst xmlns:a="http://schemas.openxmlformats.org/drawingml/2006/main">
              <a:ext uri="{FF2B5EF4-FFF2-40B4-BE49-F238E27FC236}">
                <a16:creationId xmlns:a16="http://schemas.microsoft.com/office/drawing/2014/main" id="{CA4ACBF8-EF80-44A7-8A9D-7B035A99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IMPLEMENTED CASCADE QUERY</a:t>
            </a:r>
          </a:p>
        </p:txBody>
      </p:sp>
      <p:sp>
        <p:nvSpPr>
          <p:cNvPr id="16" name="cascade-root">
            <a:extLst xmlns:a="http://schemas.openxmlformats.org/drawingml/2006/main">
              <a:ext uri="{FF2B5EF4-FFF2-40B4-BE49-F238E27FC236}">
                <a16:creationId xmlns:a16="http://schemas.microsoft.com/office/drawing/2014/main" id="{6AC1ABC5-71E6-4CBA-8187-6377B23D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customer_sync</a:t>
            </a:r>
          </a:p>
        </p:txBody>
      </p:sp>
      <p:sp>
        <p:nvSpPr>
          <p:cNvPr id="17" name="cascade-line">
            <a:extLst xmlns:a="http://schemas.openxmlformats.org/drawingml/2006/main">
              <a:ext uri="{FF2B5EF4-FFF2-40B4-BE49-F238E27FC236}">
                <a16:creationId xmlns:a16="http://schemas.microsoft.com/office/drawing/2014/main" id="{97615E1E-F0A2-4C0B-86B2-676AD8CB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435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46079"/>
            </a:solidFill>
            <a:prstDash val="solid"/>
          </a:ln>
        </p:spPr>
      </p:sp>
      <p:sp>
        <p:nvSpPr>
          <p:cNvPr id="18" name="cascade-arrow">
            <a:extLst xmlns:a="http://schemas.openxmlformats.org/drawingml/2006/main">
              <a:ext uri="{FF2B5EF4-FFF2-40B4-BE49-F238E27FC236}">
                <a16:creationId xmlns:a16="http://schemas.microsoft.com/office/drawing/2014/main" id="{4A54CD24-020E-461E-9E27-FE2CD97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1339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cascade-children">
            <a:extLst xmlns:a="http://schemas.openxmlformats.org/drawingml/2006/main">
              <a:ext uri="{FF2B5EF4-FFF2-40B4-BE49-F238E27FC236}">
                <a16:creationId xmlns:a16="http://schemas.microsoft.com/office/drawing/2014/main" id="{57AE45CE-743F-49AC-8D0B-9FEC8D55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91125"/>
            <a:ext cx="668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daily_reporting   ·   customer_orders_sync   ·   billing_customer_export</a:t>
            </a:r>
          </a:p>
        </p:txBody>
      </p:sp>
      <p:sp>
        <p:nvSpPr>
          <p:cNvPr id="20" name="comparison-status">
            <a:extLst xmlns:a="http://schemas.openxmlformats.org/drawingml/2006/main">
              <a:ext uri="{FF2B5EF4-FFF2-40B4-BE49-F238E27FC236}">
                <a16:creationId xmlns:a16="http://schemas.microsoft.com/office/drawing/2014/main" id="{E7FC9993-6555-458B-AB2D-502DCD9D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1D9F7"/>
                </a:solidFill>
                <a:latin typeface="Arial"/>
                <a:ea typeface="Arial"/>
                <a:cs typeface="Arial"/>
              </a:rPr>
              <a:t>Live result: CONNECT BY maps customer_sync to 3 failed downstream runs. Bulk import loads benchmark history; no UDF is implemented.</a:t>
            </a:r>
          </a:p>
        </p:txBody>
      </p:sp>
      <p:sp>
        <p:nvSpPr>
          <p:cNvPr id="21" name="capability-footer-line">
            <a:extLst xmlns:a="http://schemas.openxmlformats.org/drawingml/2006/main">
              <a:ext uri="{FF2B5EF4-FFF2-40B4-BE49-F238E27FC236}">
                <a16:creationId xmlns:a16="http://schemas.microsoft.com/office/drawing/2014/main" id="{7F9793AE-F641-43CE-8331-A6FA7EE5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2" name="capability-footer">
            <a:extLst xmlns:a="http://schemas.openxmlformats.org/drawingml/2006/main">
              <a:ext uri="{FF2B5EF4-FFF2-40B4-BE49-F238E27FC236}">
                <a16:creationId xmlns:a16="http://schemas.microsoft.com/office/drawing/2014/main" id="{3A76A152-8E2E-4913-A965-CF9627A0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3" name="capability-page">
            <a:extLst xmlns:a="http://schemas.openxmlformats.org/drawingml/2006/main">
              <a:ext uri="{FF2B5EF4-FFF2-40B4-BE49-F238E27FC236}">
                <a16:creationId xmlns:a16="http://schemas.microsoft.com/office/drawing/2014/main" id="{87897DF7-DDFF-48FF-8EE6-5A02E823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32287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SAME QUERY, MEASURED HONESTLY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DuckDB was 4.5× faster at 10M rows in this local single-user 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CACHE 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Exasol comparison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7 RUNS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per engine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75 / 75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27 / 27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project-authored holdout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Same deterministic query, 7 runs per engine, Exasol query cache OFF. 1M medians: Exasol 437 ms, DuckDB 115 ms. No production or concurrency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17" name="Chart">
            <a:extLst xmlns:a="http://schemas.openxmlformats.org/drawingml/2006/main">
              <a:ext uri="{FF2B5EF4-FFF2-40B4-BE49-F238E27FC236}">
                <a16:creationId xmlns:a16="http://schemas.microsoft.com/office/drawing/2014/main" id="{AB94B0CF-3577-4DD5-9553-7CE9B4E63F7F}"/>
              </a:ext>
            </a:extLst>
          </p:cNvPr>
          <p:cNvGraphicFramePr/>
          <p:nvPr/>
        </p:nvGraphicFramePr>
        <p:xfrm>
          <a:off xmlns:a="http://schemas.openxmlformats.org/drawingml/2006/main" x="685800" y="2143125"/>
          <a:ext xmlns:a="http://schemas.openxmlformats.org/drawingml/2006/main" cx="66675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6c4f60efe040c4"/>
          </a:graphicData>
        </a:graphic>
      </p:graphicFrame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product is designed to abstain before it overclaims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D489A6-6570-4CB0-9FD3-1B98A478D6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00270d28914bcc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Reserved for human verification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INSUFFICIENT EVIDENCE EXAMPLE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Worker exited with code 71. No diagnostic details.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Result: unknown. The system says what to check next and cannot confirm a cause or run a repair.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What is proven, and what must be proven next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PROVEN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Exasol-backed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Controlled 1M/10M comparison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75 automated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LLM claims cite evidence IDs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DEFINED, NOT COMPLETED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External holdout: 0 reviewer cases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Independent LLM quality evaluation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Impact study: 0/40 trials (0/4 people)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Clean-machine rehearsal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PRODUCTION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Airflow / dbt connectors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Authentication and authorization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Concurrent workload testing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Audited retention and monitoring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The engine comparison is complete. External cases and participant trials remain pending.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Follow the evidence.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faster.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carefully.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Live demo: observed facts, candidate causes, human verification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2026-10-19T05:04:58.5240000Z</dcterms:created>
  <dcterms:modified xsi:type="dcterms:W3CDTF">2026-10-19T05:04:58.5240000Z</dcterms:modified>
</coreProperties>
</file>