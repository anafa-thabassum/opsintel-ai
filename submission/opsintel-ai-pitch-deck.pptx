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db79e31be7c4f36" /><Relationship Type="http://schemas.openxmlformats.org/officeDocument/2006/relationships/extended-properties" Target="/docProps/app.xml" Id="R3524fba895f94831" /><Relationship Type="http://schemas.openxmlformats.org/officeDocument/2006/relationships/officeDocument" Target="/ppt/presentation.xml" Id="R5c5c8f98044648e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e83a484a8974ef0"/>
  </p:sldMasterIdLst>
  <p:notesMasterIdLst>
    <p:notesMasterId xmlns:r="http://schemas.openxmlformats.org/officeDocument/2006/relationships" r:id="R7b4f98f9585c4253"/>
  </p:notesMasterIdLst>
  <p:sldIdLst>
    <p:sldId xmlns:r="http://schemas.openxmlformats.org/officeDocument/2006/relationships" id="256" r:id="R90291bc615514ca3"/>
    <p:sldId xmlns:r="http://schemas.openxmlformats.org/officeDocument/2006/relationships" id="257" r:id="Rd875d06519c9493c"/>
    <p:sldId xmlns:r="http://schemas.openxmlformats.org/officeDocument/2006/relationships" id="258" r:id="R36fbf2ac3eab4139"/>
    <p:sldId xmlns:r="http://schemas.openxmlformats.org/officeDocument/2006/relationships" id="259" r:id="Rda9fdd5e54204e83"/>
    <p:sldId xmlns:r="http://schemas.openxmlformats.org/officeDocument/2006/relationships" id="260" r:id="Rca7878f300684ffd"/>
    <p:sldId xmlns:r="http://schemas.openxmlformats.org/officeDocument/2006/relationships" id="261" r:id="R1b480413f3194d40"/>
    <p:sldId xmlns:r="http://schemas.openxmlformats.org/officeDocument/2006/relationships" id="262" r:id="Re151b4afa4274b11"/>
    <p:sldId xmlns:r="http://schemas.openxmlformats.org/officeDocument/2006/relationships" id="263" r:id="R63a8337a370e4030"/>
    <p:sldId xmlns:r="http://schemas.openxmlformats.org/officeDocument/2006/relationships" id="264" r:id="R04a1d1a247d84b25"/>
    <p:sldId xmlns:r="http://schemas.openxmlformats.org/officeDocument/2006/relationships" id="265" r:id="Raff429c2537d46b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14aa095e7144f4a" /><Relationship Type="http://schemas.openxmlformats.org/officeDocument/2006/relationships/slideMaster" Target="/ppt/slideMasters/slideMaster1.xml" Id="Ree83a484a8974ef0" /><Relationship Type="http://schemas.openxmlformats.org/officeDocument/2006/relationships/notesMaster" Target="/ppt/notesMasters/notesMaster1.xml" Id="R7b4f98f9585c4253" /><Relationship Type="http://schemas.openxmlformats.org/officeDocument/2006/relationships/presProps" Target="/ppt/presProps.xml" Id="R91ed7d09eec247aa" /><Relationship Type="http://schemas.openxmlformats.org/officeDocument/2006/relationships/tableStyles" Target="/ppt/tableStyles.xml" Id="R7efba19a07dc4060" /><Relationship Type="http://schemas.openxmlformats.org/officeDocument/2006/relationships/slide" Target="/ppt/slides/slide1.xml" Id="R90291bc615514ca3" /><Relationship Type="http://schemas.openxmlformats.org/officeDocument/2006/relationships/slide" Target="/ppt/slides/slide2.xml" Id="Rd875d06519c9493c" /><Relationship Type="http://schemas.openxmlformats.org/officeDocument/2006/relationships/slide" Target="/ppt/slides/slide3.xml" Id="R36fbf2ac3eab4139" /><Relationship Type="http://schemas.openxmlformats.org/officeDocument/2006/relationships/slide" Target="/ppt/slides/slide4.xml" Id="Rda9fdd5e54204e83" /><Relationship Type="http://schemas.openxmlformats.org/officeDocument/2006/relationships/slide" Target="/ppt/slides/slide5.xml" Id="Rca7878f300684ffd" /><Relationship Type="http://schemas.openxmlformats.org/officeDocument/2006/relationships/slide" Target="/ppt/slides/slide6.xml" Id="R1b480413f3194d40" /><Relationship Type="http://schemas.openxmlformats.org/officeDocument/2006/relationships/slide" Target="/ppt/slides/slide7.xml" Id="Re151b4afa4274b11" /><Relationship Type="http://schemas.openxmlformats.org/officeDocument/2006/relationships/slide" Target="/ppt/slides/slide8.xml" Id="R63a8337a370e4030" /><Relationship Type="http://schemas.openxmlformats.org/officeDocument/2006/relationships/slide" Target="/ppt/slides/slide9.xml" Id="R04a1d1a247d84b25" /><Relationship Type="http://schemas.openxmlformats.org/officeDocument/2006/relationships/slide" Target="/ppt/slides/slide10.xml" Id="Raff429c2537d46b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7ac817712df493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f8d2c90564641fa" /><Relationship Type="http://schemas.openxmlformats.org/officeDocument/2006/relationships/notesMaster" Target="/ppt/notesMasters/notesMaster1.xml" Id="Rc9f72d43aa1a46b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ed4bfd77a74c59" /><Relationship Type="http://schemas.openxmlformats.org/officeDocument/2006/relationships/notesMaster" Target="/ppt/notesMasters/notesMaster1.xml" Id="R8190df35bf824b6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9770fd48e8f4e33" /><Relationship Type="http://schemas.openxmlformats.org/officeDocument/2006/relationships/notesMaster" Target="/ppt/notesMasters/notesMaster1.xml" Id="R51354cb053df459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4ead5d58c5413f" /><Relationship Type="http://schemas.openxmlformats.org/officeDocument/2006/relationships/notesMaster" Target="/ppt/notesMasters/notesMaster1.xml" Id="R9e31295833c44c7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61554f0529a48f4" /><Relationship Type="http://schemas.openxmlformats.org/officeDocument/2006/relationships/notesMaster" Target="/ppt/notesMasters/notesMaster1.xml" Id="Ra8932d3f4172495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826c0b3e8e54319" /><Relationship Type="http://schemas.openxmlformats.org/officeDocument/2006/relationships/notesMaster" Target="/ppt/notesMasters/notesMaster1.xml" Id="Rbd547ec00d4c4e7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860375a82c94463" /><Relationship Type="http://schemas.openxmlformats.org/officeDocument/2006/relationships/notesMaster" Target="/ppt/notesMasters/notesMaster1.xml" Id="R9c99609f4f5f4cb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a7d3071c8f04a88" /><Relationship Type="http://schemas.openxmlformats.org/officeDocument/2006/relationships/notesMaster" Target="/ppt/notesMasters/notesMaster1.xml" Id="R3ef4e5306539482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adae28494034a3e" /><Relationship Type="http://schemas.openxmlformats.org/officeDocument/2006/relationships/notesMaster" Target="/ppt/notesMasters/notesMaster1.xml" Id="Rc4c9a3e8ade845b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1a7c7ec64104122" /><Relationship Type="http://schemas.openxmlformats.org/officeDocument/2006/relationships/notesMaster" Target="/ppt/notesMasters/notesMaster1.xml" Id="Re794f08f5b194cb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ExaThon India 2026 Track 04 submission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 problem statement; app/db.py incident retrieval; reports/impact-study-protocol.md. The comparison states an expected benefit only. No measured time saving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 architecture; app/db.py; app/main.py; app/investigator.py; app/llm.py; frontend/src/App.jsx. Deterministic rules produce classifications and candidates. The optional OpenAI Responses API integration receives only bounded evidence and candidates, returns a structured narrative and evidence gaps, and is disabled by default. It cannot confirm a root cause or execute a repair.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docs/images/dashboard-overview.png; frontend/src/App.jsx totalMissing calculation; sql/seed.sql. Missing rows total 20 + 0 + 200 + 1000 = 1,220 across four demo incidents.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sql/seed.sql; app/investigator.py; docs/images/investigation-evidence.png. Run 1 has expected 100, actual 80, three logs, five observations, two candidates, low confidence, and confirmed_root_cause None.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sql/analysis/pipeline_health_features.sql; app/db.py get_pipeline_trend; app/main.py analytics_trend; frontend/src/App.jsx. A live local Exasol query returned 2026-10-15, 5 runs, 4 incidents, 56.0% average completeness, and 16.0% average rolling failure rate. The frontend fetches /analytics/trend, whose handler calls get_pipeline_trend against OPSINTEL.PIPELINE_HEALTH_FEATURES.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reports/exasol-benchmark.json; reports/evaluation.md; scripts/benchmark_exasol.py; tests/run_evaluation.py; tests/test_llm.py. Benchmark: 1,000,000 imported synthetic run rows, 20 pipelines, 7 query repetitions, 473.209 ms median, 503.947 ms nearest-rank p95, 3.025 s import. Verification: 49 tests and 16/16 predefined synthetic cases. Local single-user result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app/investigator.py assess_root_causes and investigate_pipeline; app/llm.py; tests/run_evaluation.py; tests/test_llm.py. The unknown worker-exit case remains unclassified. The optional summary cannot change confirmed_root_cause, and model or network failure leaves the deterministic investigation available. No repair is executed.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evaluation/README.md; evaluation/holdout_template.csv; reports/impact-study-protocol.md; reports/evaluation.md; docs/deployment.md. Holdout, human impact, clean-clone, and independent LLM summary-quality results remain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Repository: https://github.com/Anafa-thabassum/opsintel-ai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f06e6fc29d460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5a3031e9644ec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dba2775f9e497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7987663ee5448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42a3a08e7847a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c3280401e9433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56CF710-73BE-46C8-A783-4AE8465CCD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0511E79-67BE-4B39-921F-CA584CB02C5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751C868-2389-4E81-A171-814ACC983C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F8F76E-566D-485C-8744-F882337043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5A30BB6-1341-4A8A-BB61-5B907DE86B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8B0EBF7-2527-43B2-BDB7-2F23A3172F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1B0A86-8630-4267-94D6-32D8CD3823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47B2797-7FF4-4A5C-BF1A-0CCD8F0B20D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160F11-E4B9-4499-9D8B-1CE036C3D4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FA710B8-D5E1-4935-B83A-EABD98D919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ca8ab0587ff40b4" /><Relationship Type="http://schemas.openxmlformats.org/officeDocument/2006/relationships/slideLayout" Target="/ppt/slideLayouts/slideLayout1.xml" Id="R81e02a465a664f32" /><Relationship Type="http://schemas.openxmlformats.org/officeDocument/2006/relationships/slideLayout" Target="/ppt/slideLayouts/slideLayout2.xml" Id="R7a9f58ff595c46c6" /><Relationship Type="http://schemas.openxmlformats.org/officeDocument/2006/relationships/slideLayout" Target="/ppt/slideLayouts/slideLayout3.xml" Id="R6401f66a87d54fc4" /><Relationship Type="http://schemas.openxmlformats.org/officeDocument/2006/relationships/slideLayout" Target="/ppt/slideLayouts/slideLayout4.xml" Id="R9c4e1e7622ed4b3d" /><Relationship Type="http://schemas.openxmlformats.org/officeDocument/2006/relationships/slideLayout" Target="/ppt/slideLayouts/slideLayout5.xml" Id="Rb84cee3a6b5044a1" /><Relationship Type="http://schemas.openxmlformats.org/officeDocument/2006/relationships/slideLayout" Target="/ppt/slideLayouts/slideLayout6.xml" Id="R846c422f7432428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e02a465a664f32"/>
    <p:sldLayoutId xmlns:r="http://schemas.openxmlformats.org/officeDocument/2006/relationships" id="2147483650" r:id="R7a9f58ff595c46c6"/>
    <p:sldLayoutId xmlns:r="http://schemas.openxmlformats.org/officeDocument/2006/relationships" id="2147483651" r:id="R6401f66a87d54fc4"/>
    <p:sldLayoutId xmlns:r="http://schemas.openxmlformats.org/officeDocument/2006/relationships" id="2147483652" r:id="R9c4e1e7622ed4b3d"/>
    <p:sldLayoutId xmlns:r="http://schemas.openxmlformats.org/officeDocument/2006/relationships" id="2147483653" r:id="Rb84cee3a6b5044a1"/>
    <p:sldLayoutId xmlns:r="http://schemas.openxmlformats.org/officeDocument/2006/relationships" id="2147483654" r:id="R846c422f7432428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450ceed00f456d" /><Relationship Type="http://schemas.openxmlformats.org/officeDocument/2006/relationships/notesSlide" Target="/ppt/notesSlides/notesSlide1.xml" Id="R4a755db98b9d483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1d42d754044483" /><Relationship Type="http://schemas.openxmlformats.org/officeDocument/2006/relationships/notesSlide" Target="/ppt/notesSlides/notesSlide2.xml" Id="R978a670b30134da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e2452c17ef4703" /><Relationship Type="http://schemas.openxmlformats.org/officeDocument/2006/relationships/notesSlide" Target="/ppt/notesSlides/notesSlide3.xml" Id="R450e95761a46468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db1396d8764e91" /><Relationship Type="http://schemas.openxmlformats.org/officeDocument/2006/relationships/image" Target="/ppt/media/image.jpeg" Id="R6272c6ed2aea4e37" /><Relationship Type="http://schemas.openxmlformats.org/officeDocument/2006/relationships/notesSlide" Target="/ppt/notesSlides/notesSlide4.xml" Id="R17f63c44c5d540d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6738e2848d4849" /><Relationship Type="http://schemas.openxmlformats.org/officeDocument/2006/relationships/image" Target="/ppt/media/image2.jpeg" Id="Rb3741d894d4441d7" /><Relationship Type="http://schemas.openxmlformats.org/officeDocument/2006/relationships/notesSlide" Target="/ppt/notesSlides/notesSlide5.xml" Id="Rf572d39da0d242d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e1f7a1ee3b4653" /><Relationship Type="http://schemas.openxmlformats.org/officeDocument/2006/relationships/notesSlide" Target="/ppt/notesSlides/notesSlide6.xml" Id="R2349462ee6f546e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8b561c53874e4e" /><Relationship Type="http://schemas.openxmlformats.org/officeDocument/2006/relationships/chart" Target="/ppt/slides/charts/chart1.xml" Id="R7f484e067b8544fb" /><Relationship Type="http://schemas.openxmlformats.org/officeDocument/2006/relationships/notesSlide" Target="/ppt/notesSlides/notesSlide7.xml" Id="R07117c190418489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9a45f16a4241aa" /><Relationship Type="http://schemas.openxmlformats.org/officeDocument/2006/relationships/image" Target="/ppt/media/image3.jpeg" Id="R4fcf5ed0de674a4d" /><Relationship Type="http://schemas.openxmlformats.org/officeDocument/2006/relationships/notesSlide" Target="/ppt/notesSlides/notesSlide8.xml" Id="R36daa9ff1a5c46f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33a775bd3447ec" /><Relationship Type="http://schemas.openxmlformats.org/officeDocument/2006/relationships/notesSlide" Target="/ppt/notesSlides/notesSlide9.xml" Id="Rabef15e2d6254b6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2246ab349d4be1" /><Relationship Type="http://schemas.openxmlformats.org/officeDocument/2006/relationships/notesSlide" Target="/ppt/notesSlides/notesSlide10.xml" Id="R0b64eaedb3ef4bb7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Query latency</c:v>
          </c:tx>
          <c:spPr>
            <a:solidFill xmlns:a="http://schemas.openxmlformats.org/drawingml/2006/main">
              <a:srgbClr val="8B7CE8"/>
            </a:solidFill>
            <a:ln xmlns:a="http://schemas.openxmlformats.org/drawingml/2006/main" w="9525">
              <a:solidFill>
                <a:srgbClr val="8B7CE8"/>
              </a:solidFill>
              <a:prstDash val="solid"/>
            </a:ln>
          </c:spPr>
          <c:invertIfNegative val="0"/>
          <c:cat>
            <c:strRef>
              <c:f>'Chart Data'!$A$2:$A$8</c:f>
              <c:strCache>
                <c:ptCount val="7"/>
                <c:pt idx="0">
                  <c:v>Run 1</c:v>
                </c:pt>
                <c:pt idx="1">
                  <c:v>Run 2</c:v>
                </c:pt>
                <c:pt idx="2">
                  <c:v>Run 3</c:v>
                </c:pt>
                <c:pt idx="3">
                  <c:v>Run 4</c:v>
                </c:pt>
                <c:pt idx="4">
                  <c:v>Run 5</c:v>
                </c:pt>
                <c:pt idx="5">
                  <c:v>Run 6</c:v>
                </c:pt>
                <c:pt idx="6">
                  <c:v>Run 7</c:v>
                </c:pt>
              </c:strCache>
            </c:strRef>
          </c:cat>
          <c:val>
            <c:numRef>
              <c:f>'Chart Data'!$B$2:$B$8</c:f>
              <c:numCache>
                <c:formatCode>0</c:formatCode>
                <c:ptCount val="7"/>
                <c:pt idx="0">
                  <c:v>503.947</c:v>
                </c:pt>
                <c:pt idx="1">
                  <c:v>473.209</c:v>
                </c:pt>
                <c:pt idx="2">
                  <c:v>474.484</c:v>
                </c:pt>
                <c:pt idx="3">
                  <c:v>445.887</c:v>
                </c:pt>
                <c:pt idx="4">
                  <c:v>442.384</c:v>
                </c:pt>
                <c:pt idx="5">
                  <c:v>469.597</c:v>
                </c:pt>
                <c:pt idx="6">
                  <c:v>476.749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>
                  <a:solidFill>
                    <a:srgbClr val="9AA7BE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750">
                    <a:solidFill>
                      <a:srgbClr val="7C89A3"/>
                    </a:solidFill>
                  </a:rPr>
                  <a:t>Query repetition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>
                  <a:solidFill>
                    <a:srgbClr val="7C89A3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44506A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7C89A3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550"/>
          <c:min val="4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26324A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750">
                    <a:solidFill>
                      <a:srgbClr val="7C89A3"/>
                    </a:solidFill>
                  </a:rPr>
                  <a:t>Milliseconds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>
                  <a:solidFill>
                    <a:srgbClr val="7C89A3"/>
                  </a:solidFill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44506A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7C89A3"/>
                </a:solidFill>
              </a:defRPr>
            </a:pPr>
          </a:p>
        </c:txPr>
        <c:crossAx val="48650112"/>
        <c:crossBetween val="between"/>
        <c:majorUnit val="50"/>
      </c:valAx>
      <c:spPr>
        <a:solidFill xmlns:a="http://schemas.openxmlformats.org/drawingml/2006/main">
          <a:srgbClr val="000000">
            <a:alpha val="0"/>
          </a:srgbClr>
        </a:solidFill>
        <a:ln xmlns:a="http://schemas.openxmlformats.org/drawingml/2006/main" w="0">
          <a:solidFill>
            <a:srgbClr val="000000">
              <a:alpha val="0"/>
            </a:srgbClr>
          </a:solidFill>
          <a:prstDash val="solid"/>
        </a:ln>
      </c:spPr>
    </c:plotArea>
    <c:plotVisOnly val="1"/>
  </c:chart>
  <c:spPr>
    <a:solidFill xmlns:a="http://schemas.openxmlformats.org/drawingml/2006/main">
      <a:srgbClr val="000000">
        <a:alpha val="0"/>
      </a:srgbClr>
    </a:solidFill>
    <a:ln xmlns:a="http://schemas.openxmlformats.org/drawingml/2006/main" w="0">
      <a:solidFill>
        <a:srgbClr val="000000">
          <a:alpha val="0"/>
        </a:srgbClr>
      </a:solidFill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7A3E9-1123-4B20-A1C2-19136880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AFFF90-634C-476A-B16B-05AA0962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905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88F48B-8EFF-4837-AC6D-BBF53BF6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7810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Evidence-based pipeline investigation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940742-1FED-4E5E-B585-63E5F2C8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7429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From failed overnight run to traceable next action - powered by Exasol Personal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C4821-30BA-4FE6-A808-88E54ECE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414981-4EED-49A7-99EB-A3D0EF67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800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EXATHON INDIA 2026  /  TRACK 04: THE WORK BEHIND THE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F1F51-4AA0-4BF4-A7D4-54FF6250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2809A"/>
                </a:solidFill>
                <a:latin typeface="Arial"/>
                <a:ea typeface="Arial"/>
                <a:cs typeface="Arial"/>
              </a:rPr>
              <a:t>Public prototype  •  MIT licensed  •  Synthetic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906ADB-ABC7-45AD-96F6-950DF782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787943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04F7ED-6DBB-4066-BA46-6F5E0BFF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CDBFC1-BD17-4073-8092-EC152CD0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The failure is visible. The explanation is scattered.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4EBA27-C86C-4EC4-A143-5168602A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MANUAL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25D0C7-ACD8-4746-9F0B-B2449BE5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4191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 lives in separate views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E86D73-F221-4F04-AB3F-A766E1D4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4476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The engineer finds the run, compares row counts, searches logs, and decides what to inspect next.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187B0-D155-41CA-8AC0-FD553D4B7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152650"/>
            <a:ext cx="0" cy="3314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324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339F91-66BC-42F8-B2C3-5635DEC76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E2A72-7377-42C8-B2D2-2C4577E0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89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C663C-24F4-4990-A5E8-05607208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289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Select the failed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FCE6B8-DC53-43D5-9F53-E095127D4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528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DD6DF-F2D6-4215-B7A0-3C2B892D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52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Review cited status, counts, and logs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479137-8B3E-439F-9B14-3041FE6F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767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585CDD-4C08-4852-8297-A3010A28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767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Compare candidate explanations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B0BA77-D1DF-4D1B-A08B-59140011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006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748D68-B8CC-41E1-BE75-907A33BE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006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Human verifies before action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FD6CB-1F51-49B8-9E13-6D5C3DF0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54355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Expected benefit: fewer context switches. The impact study will measure time and evidence selection.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05393B-0FC6-4B32-97C1-565CF44F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400BB5-2023-4241-8458-E456F36A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0FF8D9-2F8B-46F6-B033-072F1260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059260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A27D2A-353E-4DDD-8DB3-6440D545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PRODUCT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41E24E-A6A9-40B6-A446-0CBD3FEC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Operational evidence flows through Exasol, FastAPI, and the dashboard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DE920A-451B-4BAE-8CC7-A24854CB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DC992-BB64-41FA-AB72-0F4A77A0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1D9F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3589F7-C5CA-45A4-8B26-777F9324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Pipeline runs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logs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53D03-5DBA-4005-8020-26CD7EE7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A3BAC-7157-4C36-A61D-60F550F5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CF1F1B-EE0D-44CF-8985-F9C684DC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975E5C-D1B3-4224-B852-4823ABE13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SQL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analytics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DD6F93-5BD9-4D61-8130-FDFC5982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1397F4-F8DD-4415-BBC0-0FD6103E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FADBC8-DA78-4F92-82C4-15E73256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6040CE-EE99-4759-B2D4-15B3A415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FastAPI rules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candidates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2E3F47-5AAD-44B1-8EDC-881EDFDD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5D8DE6-830C-4AC3-B418-8AAA43AB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F5D47F-A646-4B21-9061-856C912E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A99280-1856-43EF-8142-AA27864A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Dashboard + optional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LLM narrative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F6B0ED-24D3-4301-922E-8CA67DDF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F0236E-BA5A-49A3-B8F8-F93AD474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A6B082-3C57-4A30-93C6-C6AD8425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F3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CB3E4E-925A-4DE9-9737-17C41B5C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Engineer verifies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confirms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C35379-5874-4BC9-86C3-E6B81889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Safety boundary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E4D1C3-A9DE-413D-B632-98BCC9D1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Rules produce the category and candidates. The optional LLM only summarizes retrieved evidence. Confirmation and repairs stay human-controlled.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2F9C96-361A-4CFD-8E1D-EC61E08C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0EBE46-E537-4E72-A8DA-37317E82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B1A799-99C5-426A-B9B8-45847F4C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849813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C1642E-7687-49E3-9A6D-A1FADBA5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LIVE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74509D-408D-4436-8EB5-68987C49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The dashboard reads incident telemetry calculated in Exasol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BE2733-467F-4745-A5D2-280A47BE2F2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72c6ed2aea4e37"/>
          <a:srcRect xmlns:a="http://schemas.openxmlformats.org/drawingml/2006/main" l="13" t="0" r="1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7905750" cy="4448175"/>
          </a:xfrm>
          <a:prstGeom xmlns:a="http://schemas.openxmlformats.org/drawingml/2006/main" prst="roundRect">
            <a:avLst>
              <a:gd name="adj" fmla="val 25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F0301E-762A-4931-A695-82EF0E4C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38375"/>
            <a:ext cx="1714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708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39C339-4759-4E2C-B485-7C861DB9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765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failed pipeline runs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83B56-D5EE-46FA-904F-E635BA0E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7665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1,220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B57230-272B-483F-BE03-4737DE99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3243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aggregate missing rows across four demo incidents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8D31C1-567B-4485-A634-19362EDA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219700"/>
            <a:ext cx="2476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Exasol connected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Trend from SQL view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Incidents selectable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CA060C-7F29-495D-B3C9-ED0572D8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B271D2-C3ED-4DE1-A2C2-93AB976F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67C714-2C9D-4CE5-AF3C-ABE8788C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989670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30CB98-4064-455A-8CD5-2A1F7475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INVESTIGATION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683B06-0C4B-4052-AB33-29277B10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Every recommendation points back to source evidence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645917-A43B-460B-94FD-B05F71D9DE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741d894d4441d7"/>
          <a:srcRect xmlns:a="http://schemas.openxmlformats.org/drawingml/2006/main" l="15" t="0" r="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67250" y="1952625"/>
            <a:ext cx="6838950" cy="3848100"/>
          </a:xfrm>
          <a:prstGeom xmlns:a="http://schemas.openxmlformats.org/drawingml/2006/main" prst="roundRect">
            <a:avLst>
              <a:gd name="adj" fmla="val 29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B18D24-039E-4AAC-A056-54A3407C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Selected run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9E714-7177-4B63-9CCA-8ECE867D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daily_sales_import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21B593-D8CE-49D9-BBB9-465F8DEB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3048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Expected: 100 rows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Received: 80 rows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Missing: 20 rows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B0FC1-4E82-4B16-8326-273B7BBE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36195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EVIDENCE TRAIL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PIPELINE_RUNS: status and row counts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LOG-1: expected 100 source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LOG-2: source returned only 80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LOG-3: import ended before completion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C9C51-6017-4CBC-AAD3-556D6BEAA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737594-9A9B-4C46-9FB4-B2F748C2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E6994C-9844-480B-9EB2-07432BD5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observation-label">
            <a:extLst xmlns:a="http://schemas.openxmlformats.org/drawingml/2006/main">
              <a:ext uri="{FF2B5EF4-FFF2-40B4-BE49-F238E27FC236}">
                <a16:creationId xmlns:a16="http://schemas.microsoft.com/office/drawing/2014/main" id="{1A1B611E-2BB3-40E0-86D3-755DE165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OBSERVATION</a:t>
            </a:r>
          </a:p>
        </p:txBody>
      </p:sp>
      <p:sp>
        <p:nvSpPr>
          <p:cNvPr id="14" name="candidate-label">
            <a:extLst xmlns:a="http://schemas.openxmlformats.org/drawingml/2006/main">
              <a:ext uri="{FF2B5EF4-FFF2-40B4-BE49-F238E27FC236}">
                <a16:creationId xmlns:a16="http://schemas.microsoft.com/office/drawing/2014/main" id="{D5C85D3C-E306-442A-B46C-0A9FA9E5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8483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CANDIDATES</a:t>
            </a:r>
          </a:p>
        </p:txBody>
      </p:sp>
      <p:sp>
        <p:nvSpPr>
          <p:cNvPr id="15" name="candidate-detail">
            <a:extLst xmlns:a="http://schemas.openxmlformats.org/drawingml/2006/main">
              <a:ext uri="{FF2B5EF4-FFF2-40B4-BE49-F238E27FC236}">
                <a16:creationId xmlns:a16="http://schemas.microsoft.com/office/drawing/2014/main" id="{A50CE275-A933-4F5C-A252-AC7561A8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019800"/>
            <a:ext cx="390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 shortfall or early termination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Confidence: low</a:t>
            </a:r>
          </a:p>
        </p:txBody>
      </p:sp>
      <p:sp>
        <p:nvSpPr>
          <p:cNvPr id="16" name="confirmation-label">
            <a:extLst xmlns:a="http://schemas.openxmlformats.org/drawingml/2006/main">
              <a:ext uri="{FF2B5EF4-FFF2-40B4-BE49-F238E27FC236}">
                <a16:creationId xmlns:a16="http://schemas.microsoft.com/office/drawing/2014/main" id="{45411344-1D0B-4259-B5B1-858F2623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8483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17" name="confirmation-detail">
            <a:extLst xmlns:a="http://schemas.openxmlformats.org/drawingml/2006/main">
              <a:ext uri="{FF2B5EF4-FFF2-40B4-BE49-F238E27FC236}">
                <a16:creationId xmlns:a16="http://schemas.microsoft.com/office/drawing/2014/main" id="{4E3C3132-0269-49E9-9EBE-F0E6F3796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0198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None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Human verification required</a:t>
            </a:r>
          </a:p>
        </p:txBody>
      </p:sp>
    </p:spTree>
    <p:extLst>
      <p:ext uri="{BB962C8B-B14F-4D97-AF65-F5344CB8AC3E}">
        <p14:creationId xmlns:p14="http://schemas.microsoft.com/office/powerpoint/2010/main" val="12335354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A06E98-B789-414B-A7E9-383F1B9A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WHY EXASOL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D51DA0-AF78-49B0-BCCA-83EBDD78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computes incident context before FastAPI responds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041578-D9DB-4587-A74A-2E8AB10B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ANALYTICAL FEATURES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26D927-9242-4F97-ABBC-61C449DF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26D73E-B486-4F05-9C63-CBCFFC5A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Previous run status with LAG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B67BEF-18DB-437D-AE2F-0F91B5FA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EB3424-2DA8-4D17-8A3B-4B89BAC7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9087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actual-row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E50DC5-923B-49B1-9F8D-CB8B7B47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22A7FC-4B4B-4108-8180-89672C9B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1000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failure rate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971A6C-EB49-4DC1-9FAE-0A8A1375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6722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D161A4-44C7-4A64-AAC0-74E97444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2912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Missing rows and completeness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7BBAD6-2C80-4D28-A378-F4A18AF1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F196F4-EC63-4330-A180-970E20BA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482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FastAPI reads the view directly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C1EFA6-FCD6-4147-AC4D-E61EBB0CE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095500"/>
            <a:ext cx="5734050" cy="3581400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0D1220"/>
          </a:solidFill>
          <a:ln xmlns:a="http://schemas.openxmlformats.org/drawingml/2006/main" w="9525">
            <a:solidFill>
              <a:srgbClr val="303A5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D03A01-97C7-4126-A9BB-E311B533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431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QUERY USED BY /analytics/trend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661206-445B-4DC9-8780-90766354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86050"/>
            <a:ext cx="48577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D7DEEF"/>
                </a:solidFill>
                <a:latin typeface="Arial"/>
                <a:ea typeface="Arial"/>
                <a:cs typeface="Arial"/>
              </a:rPr>
              <a:t>SELECT TO_CHAR(RUN_TIME, 'YYYY-MM-DD') AS RUN_DAY,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D7DEEF"/>
                </a:solidFill>
                <a:latin typeface="Arial"/>
                <a:ea typeface="Arial"/>
                <a:cs typeface="Arial"/>
              </a:rPr>
              <a:t>       COUNT(*) AS TOTAL_RUNS,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D7DEEF"/>
                </a:solidFill>
                <a:latin typeface="Arial"/>
                <a:ea typeface="Arial"/>
                <a:cs typeface="Arial"/>
              </a:rPr>
              <a:t>       SUM(CASE WHEN RUN_STATUS = 'FAILED'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D7DEEF"/>
                </a:solidFill>
                <a:latin typeface="Arial"/>
                <a:ea typeface="Arial"/>
                <a:cs typeface="Arial"/>
              </a:rPr>
              <a:t>         OR EXPECTED_ROWS &gt; ACTUAL_ROWS THEN 1 ELSE 0 END)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D7DEEF"/>
                </a:solidFill>
                <a:latin typeface="Arial"/>
                <a:ea typeface="Arial"/>
                <a:cs typeface="Arial"/>
              </a:rPr>
              <a:t>         AS INCIDENT_COUNT,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D7DEEF"/>
                </a:solidFill>
                <a:latin typeface="Arial"/>
                <a:ea typeface="Arial"/>
                <a:cs typeface="Arial"/>
              </a:rPr>
              <a:t>       ROUND(AVG(COMPLETENESS_PCT), 1) AS AVG_COMPLETE_PCT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D7DEEF"/>
                </a:solidFill>
                <a:latin typeface="Arial"/>
                <a:ea typeface="Arial"/>
                <a:cs typeface="Arial"/>
              </a:rPr>
              <a:t>FROM OPSINTEL.PIPELINE_HEALTH_FEATURES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D7DEEF"/>
                </a:solidFill>
                <a:latin typeface="Arial"/>
                <a:ea typeface="Arial"/>
                <a:cs typeface="Arial"/>
              </a:rPr>
              <a:t>GROUP BY TO_CHAR(RUN_TIME, 'YYYY-MM-DD')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BBFB13-FA7F-4F3B-A7FD-C328B0DC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6730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FastAPI returns these view rows directly. Exasol keeps the window calculations beside the run history, so Python does not rebuild them.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C9057C-E9E7-4A82-85CC-59F0E1AE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A2376F-DBBF-4F01-B65F-09D7B28E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048927-F426-4975-ADB7-764EA283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2" name="query-output-label">
            <a:extLst xmlns:a="http://schemas.openxmlformats.org/drawingml/2006/main">
              <a:ext uri="{FF2B5EF4-FFF2-40B4-BE49-F238E27FC236}">
                <a16:creationId xmlns:a16="http://schemas.microsoft.com/office/drawing/2014/main" id="{B2869ADF-8687-48CA-B478-CE10458EB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324350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ACTUAL OUTPUT FROM LOCAL EXASOL</a:t>
            </a:r>
          </a:p>
        </p:txBody>
      </p:sp>
      <p:sp>
        <p:nvSpPr>
          <p:cNvPr id="23" name="query-output">
            <a:extLst xmlns:a="http://schemas.openxmlformats.org/drawingml/2006/main">
              <a:ext uri="{FF2B5EF4-FFF2-40B4-BE49-F238E27FC236}">
                <a16:creationId xmlns:a16="http://schemas.microsoft.com/office/drawing/2014/main" id="{F47A54F9-3916-4C1B-AA40-64BF62593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53390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2026-10-15   5 runs   4 incidents</a:t>
            </a:r>
          </a:p>
          <a:p xmlns:a="http://schemas.openxmlformats.org/drawingml/2006/main">
            <a:pPr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56.0% average completeness   16.0% rolling failure rate</a:t>
            </a:r>
          </a:p>
        </p:txBody>
      </p:sp>
    </p:spTree>
    <p:extLst>
      <p:ext uri="{BB962C8B-B14F-4D97-AF65-F5344CB8AC3E}">
        <p14:creationId xmlns:p14="http://schemas.microsoft.com/office/powerpoint/2010/main" val="6097828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F490F3-3205-47D3-81F2-B2E4EC3C2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MEASURED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42010-3354-4173-9B2F-B50C7101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1,000,000 synthetic run rows: 473 ms median and 504 ms p95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DE8A72-A8C5-4D6B-9FBF-9FFBBB01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9911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473 ms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047A74-FE69-4DFA-9B0D-4FF80539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553075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median analytical query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DDD64B-77F2-4195-B109-3DF51883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9911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60/60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7E5E40-79E2-45ED-A1E4-6F3A56CC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553075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automated tests passed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49F08F-E928-4DA0-B346-1E3047E8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813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16 / 16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B11EDF-4B9D-4318-92D6-B6B1CD81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528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predefined synthetic challenge cases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70107B-7DE0-4040-9DA3-536491D38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48125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3.025 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DD39FB-6DAB-4529-91A8-DF5B1483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910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1,000,000-row import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167041-1118-4DA2-A7BE-5A615056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28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4809A"/>
                </a:solidFill>
                <a:latin typeface="Arial"/>
                <a:ea typeface="Arial"/>
                <a:cs typeface="Arial"/>
              </a:rPr>
              <a:t>Records: reports/exasol-benchmark.json. Reproduce with scripts/benchmark_exasol.py, pytest -q, and tests/run_evaluation.py. Local single-user, 7 repeats. No concurrency claim.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19EF85-0310-4285-B752-FCC776A5A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7F5261-2B68-4156-8471-8FED503A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1889EB-1BD7-4B47-853F-19A4FCF0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17" name="Chart">
            <a:extLst xmlns:a="http://schemas.openxmlformats.org/drawingml/2006/main">
              <a:ext uri="{FF2B5EF4-FFF2-40B4-BE49-F238E27FC236}">
                <a16:creationId xmlns:a16="http://schemas.microsoft.com/office/drawing/2014/main" id="{4A9CFCBD-D54E-4FC7-B130-486A6569CC31}"/>
              </a:ext>
            </a:extLst>
          </p:cNvPr>
          <p:cNvGraphicFramePr/>
          <p:nvPr/>
        </p:nvGraphicFramePr>
        <p:xfrm>
          <a:off xmlns:a="http://schemas.openxmlformats.org/drawingml/2006/main" x="685800" y="2143125"/>
          <a:ext xmlns:a="http://schemas.openxmlformats.org/drawingml/2006/main" cx="66675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f484e067b8544fb"/>
          </a:graphicData>
        </a:graphic>
      </p:graphicFrame>
    </p:spTree>
    <p:extLst>
      <p:ext uri="{BB962C8B-B14F-4D97-AF65-F5344CB8AC3E}">
        <p14:creationId xmlns:p14="http://schemas.microsoft.com/office/powerpoint/2010/main" val="100112273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733EDC-08C1-42A0-9A42-9B4780B4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TRUST AND 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5D4EDD-29B2-4F49-9A24-C995E3EB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The product is designed to abstain before it overclaims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BBF529-755B-4B98-9AAD-61F0A2BFA0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cf5ed0de674a4d"/>
          <a:srcRect xmlns:a="http://schemas.openxmlformats.org/drawingml/2006/main" l="0" t="47" r="0" b="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6762750" cy="3800475"/>
          </a:xfrm>
          <a:prstGeom xmlns:a="http://schemas.openxmlformats.org/drawingml/2006/main" prst="roundRect">
            <a:avLst>
              <a:gd name="adj" fmla="val 3008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E160EE-D22A-4DB2-B2AF-2571C8C0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717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OBSERVATION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6E224E-B5F8-4753-846D-D26B4208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574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Source-backed facts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905F54-2230-4A3D-9742-F9DF94BA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385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1C84AB-CC67-4278-A39C-7EC0E812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5242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Evidence-supported possibility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E63747-528F-4B36-8392-ED73F2D1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05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2C1ABD-D53B-4C58-8397-F56D7B8B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910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Reserved for human verification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FD7307-8192-46A6-9AA6-B9077145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219700"/>
            <a:ext cx="342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INSUFFICIENT EVIDENCE EXAMPLE</a:t>
            </a:r>
          </a:p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Worker exited with code 71. No diagnostic details.</a:t>
            </a:r>
          </a:p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Result: unclassified. Optional summary cannot confirm a cause or run a repair.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DBD08C-476E-401A-A3D9-BDB7CD06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30B2C3-CC6E-41B0-83CC-FAD5C7E2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546E27-F104-482C-A7BE-E5EAED28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8701222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BF1442-DFE5-406E-893D-C2485EFC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VALIDATION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3D91EE-A427-4473-B243-B8FF9005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What is proven, and what must be proven next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BB0726-C442-4435-A501-B873897B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E26209-DA73-4FA4-AE4F-3B654F1B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PROVEN NOW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E866A-975A-4E0E-B02B-ED672CE0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Live Exasol-backed demo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B30F43-21A5-4BA4-AA32-6E6C03F7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One-million-row benchmark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127B3B-AD6A-46E5-A785-C7FB4CBE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</a:t>
            </a: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60</a:t>
            </a: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 automated tests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6BAC7B-33EB-43ED-B166-06DD95AA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Optional structured LLM summary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25CAC1-23E6-4737-A229-0AA80846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BAED60-FFD3-44CE-B05F-9D167CE9A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DEFINED, NOT COMPLETED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F11EAA-8D5B-48D0-9E71-F6203F40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Reviewer holdout protocol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E8D41E-0405-4198-BD9E-72E9579E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Frozen-commit process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A62489-4DF2-4E6E-84CB-5C84F4A9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</a:t>
            </a: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Human impact study runner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356331-F37D-417C-9E10-06624ACB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LLM summary quality evaluation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8364B1-C105-47F6-8424-5349E401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6EB507-7430-4259-9A77-16CE4622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PRODUCTION WORK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1093F9-77E4-443C-9AFD-03D42DB3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Orchestrator connectors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357E7D-658E-4A8C-84E5-EB5807F4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Authentication and authorization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66C30E-766C-455D-996C-71179B40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Concurrent workload testing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0B4299-5DC3-450F-8385-7E06E80C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Audited retention and monitoring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681144-81C8-4601-81D1-CB1047F8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No independent holdout result or measured productivity improvement is claimed.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421384-59F1-4490-A11A-231305E0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7F56C3-1BF3-4229-94A5-CB073F9A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A55044-99B0-4BB6-B1E3-A34E5128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4228128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30A548-206B-4000-ABD3-CACE5BED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42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246DEE-DA81-4CCA-9EF8-27E43435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7524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Follow the evidence.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Investigate faster.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Confirm carefully.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4FF222-CAED-4B1D-A3D0-259F5340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619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BCBFAA-E76B-4692-AD83-09F719B0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0125"/>
            <a:ext cx="742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github.com/Anafa-thabassum/opsintel-ai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A5045E-1F28-4C2C-9CF0-79B788B0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809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Live demo: one incident, five observations, one safe next action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465DFE-A9D4-4C15-B854-3B231E8D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5292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2026-10-19T04:15:53.3080000Z</dcterms:created>
  <dcterms:modified xsi:type="dcterms:W3CDTF">2026-10-19T04:15:53.3080000Z</dcterms:modified>
</coreProperties>
</file>